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645920"/>
            <a:ext cx="137160" cy="32918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554480"/>
            <a:ext cx="10332720" cy="1579920"/>
          </a:xfrm>
          <a:prstGeom prst="rect">
            <a:avLst/>
          </a:prstGeom>
          <a:noFill/>
        </p:spPr>
        <p:txBody>
          <a:bodyPr wrap="square">
            <a:spAutoFit/>
          </a:bodyPr>
          <a:lstStyle/>
          <a:p>
            <a:pPr>
              <a:defRPr sz="1300" b="1">
                <a:solidFill>
                  <a:srgbClr val="38BDF8"/>
                </a:solidFill>
              </a:defRPr>
            </a:pPr>
            <a:r>
              <a:rPr dirty="0"/>
              <a:t>CRYPTOGRAPHY &amp; NETWORK SECURITY  |  PROJECT PROPOSAL</a:t>
            </a:r>
          </a:p>
          <a:p>
            <a:pPr>
              <a:spcBef>
                <a:spcPts val="1400"/>
              </a:spcBef>
              <a:spcAft>
                <a:spcPts val="1400"/>
              </a:spcAft>
              <a:defRPr sz="3600" b="1">
                <a:solidFill>
                  <a:srgbClr val="F8FAFC"/>
                </a:solidFill>
              </a:defRPr>
            </a:pPr>
            <a:r>
              <a:rPr dirty="0"/>
              <a:t>Secure End-to-End Messaging System</a:t>
            </a:r>
            <a:br>
              <a:rPr dirty="0"/>
            </a:br>
            <a:r>
              <a:rPr dirty="0"/>
              <a:t>Using Hybrid Cryptography</a:t>
            </a:r>
            <a:endParaRPr lang="en-IN" dirty="0"/>
          </a:p>
        </p:txBody>
      </p:sp>
      <p:sp>
        <p:nvSpPr>
          <p:cNvPr id="5" name="TextBox 4">
            <a:extLst>
              <a:ext uri="{FF2B5EF4-FFF2-40B4-BE49-F238E27FC236}">
                <a16:creationId xmlns:a16="http://schemas.microsoft.com/office/drawing/2014/main" id="{B7F22E02-18BA-F65C-BB4F-35ECB79028C9}"/>
              </a:ext>
            </a:extLst>
          </p:cNvPr>
          <p:cNvSpPr txBox="1"/>
          <p:nvPr/>
        </p:nvSpPr>
        <p:spPr>
          <a:xfrm>
            <a:off x="1127760" y="3279917"/>
            <a:ext cx="10332720" cy="1631216"/>
          </a:xfrm>
          <a:prstGeom prst="rect">
            <a:avLst/>
          </a:prstGeom>
          <a:noFill/>
        </p:spPr>
        <p:txBody>
          <a:bodyPr wrap="square">
            <a:spAutoFit/>
          </a:bodyPr>
          <a:lstStyle/>
          <a:p>
            <a:pPr>
              <a:defRPr sz="1600">
                <a:solidFill>
                  <a:srgbClr val="94A3B8"/>
                </a:solidFill>
              </a:defRPr>
            </a:pPr>
            <a:r>
              <a:rPr lang="en-IN" sz="2000" dirty="0">
                <a:solidFill>
                  <a:schemeClr val="bg1"/>
                </a:solidFill>
              </a:rPr>
              <a:t>Team Members:</a:t>
            </a:r>
          </a:p>
          <a:p>
            <a:pPr marL="342900" indent="-342900">
              <a:buAutoNum type="arabicPeriod"/>
              <a:defRPr sz="1600">
                <a:solidFill>
                  <a:srgbClr val="94A3B8"/>
                </a:solidFill>
              </a:defRPr>
            </a:pPr>
            <a:r>
              <a:rPr lang="en-IN" sz="2000" dirty="0">
                <a:solidFill>
                  <a:schemeClr val="bg1"/>
                </a:solidFill>
              </a:rPr>
              <a:t>Swetha </a:t>
            </a:r>
            <a:r>
              <a:rPr lang="en-IN" sz="2000" dirty="0" err="1">
                <a:solidFill>
                  <a:schemeClr val="bg1"/>
                </a:solidFill>
              </a:rPr>
              <a:t>Kadabgaon</a:t>
            </a:r>
            <a:r>
              <a:rPr lang="en-IN" sz="2000" dirty="0">
                <a:solidFill>
                  <a:schemeClr val="bg1"/>
                </a:solidFill>
              </a:rPr>
              <a:t> (348)</a:t>
            </a:r>
          </a:p>
          <a:p>
            <a:pPr marL="342900" indent="-342900">
              <a:buAutoNum type="arabicPeriod"/>
              <a:defRPr sz="1600">
                <a:solidFill>
                  <a:srgbClr val="94A3B8"/>
                </a:solidFill>
              </a:defRPr>
            </a:pPr>
            <a:r>
              <a:rPr lang="en-IN" sz="2000" dirty="0" err="1">
                <a:solidFill>
                  <a:schemeClr val="bg1"/>
                </a:solidFill>
              </a:rPr>
              <a:t>Saniyanaz</a:t>
            </a:r>
            <a:r>
              <a:rPr lang="en-IN" sz="2000" dirty="0">
                <a:solidFill>
                  <a:schemeClr val="bg1"/>
                </a:solidFill>
              </a:rPr>
              <a:t> Momin (350)</a:t>
            </a:r>
          </a:p>
          <a:p>
            <a:pPr marL="342900" indent="-342900">
              <a:buAutoNum type="arabicPeriod"/>
              <a:defRPr sz="1600">
                <a:solidFill>
                  <a:srgbClr val="94A3B8"/>
                </a:solidFill>
              </a:defRPr>
            </a:pPr>
            <a:r>
              <a:rPr lang="en-IN" sz="2000" dirty="0">
                <a:solidFill>
                  <a:schemeClr val="bg1"/>
                </a:solidFill>
              </a:rPr>
              <a:t>Khushi (358)</a:t>
            </a:r>
          </a:p>
          <a:p>
            <a:pPr marL="342900" indent="-342900">
              <a:buAutoNum type="arabicPeriod"/>
              <a:defRPr sz="1600">
                <a:solidFill>
                  <a:srgbClr val="94A3B8"/>
                </a:solidFill>
              </a:defRPr>
            </a:pPr>
            <a:r>
              <a:rPr lang="en-IN" sz="2000" dirty="0">
                <a:solidFill>
                  <a:schemeClr val="bg1"/>
                </a:solidFill>
              </a:rPr>
              <a:t>Nidhi Kugunavar (351)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PROBLEM IDENTIFICATION</a:t>
            </a:r>
          </a:p>
        </p:txBody>
      </p:sp>
      <p:sp>
        <p:nvSpPr>
          <p:cNvPr id="4" name="TextBox 3"/>
          <p:cNvSpPr txBox="1"/>
          <p:nvPr/>
        </p:nvSpPr>
        <p:spPr>
          <a:xfrm>
            <a:off x="731520" y="685800"/>
            <a:ext cx="10698480" cy="523220"/>
          </a:xfrm>
          <a:prstGeom prst="rect">
            <a:avLst/>
          </a:prstGeom>
          <a:noFill/>
        </p:spPr>
        <p:txBody>
          <a:bodyPr wrap="square">
            <a:spAutoFit/>
          </a:bodyPr>
          <a:lstStyle/>
          <a:p>
            <a:pPr>
              <a:defRPr sz="2400" b="1">
                <a:solidFill>
                  <a:srgbClr val="F8FAFC"/>
                </a:solidFill>
              </a:defRPr>
            </a:pPr>
            <a:r>
              <a:rPr sz="2800" dirty="0"/>
              <a:t>Problem Identification: Insecure Message Transmission</a:t>
            </a:r>
          </a:p>
        </p:txBody>
      </p:sp>
      <p:sp>
        <p:nvSpPr>
          <p:cNvPr id="5" name="Rounded Rectangle 4"/>
          <p:cNvSpPr/>
          <p:nvPr/>
        </p:nvSpPr>
        <p:spPr>
          <a:xfrm>
            <a:off x="731520" y="1554480"/>
            <a:ext cx="10698480" cy="146304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EF4444"/>
                </a:solidFill>
              </a:defRPr>
            </a:pPr>
            <a:r>
              <a:rPr sz="1900" dirty="0"/>
              <a:t>PROBLEM STATEMENT</a:t>
            </a:r>
          </a:p>
          <a:p>
            <a:pPr>
              <a:spcBef>
                <a:spcPts val="400"/>
              </a:spcBef>
              <a:defRPr sz="1350">
                <a:solidFill>
                  <a:srgbClr val="F8FAFC"/>
                </a:solidFill>
              </a:defRPr>
            </a:pPr>
            <a:r>
              <a:rPr sz="1900" dirty="0"/>
              <a:t>Conventional messaging applications operating across untrusted networks expose communication to eavesdropping, message tampering, unauthorized server access, and replay attacks. When messages are relayed or stored in plaintext at intermediary servers, an attacker or compromised host can access sensitive records or silently alter data without detection.</a:t>
            </a:r>
          </a:p>
        </p:txBody>
      </p:sp>
      <p:sp>
        <p:nvSpPr>
          <p:cNvPr id="6" name="Rounded Rectangle 5"/>
          <p:cNvSpPr/>
          <p:nvPr/>
        </p:nvSpPr>
        <p:spPr>
          <a:xfrm>
            <a:off x="731520" y="3291840"/>
            <a:ext cx="3383280" cy="3017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3474720"/>
            <a:ext cx="2926080" cy="338554"/>
          </a:xfrm>
          <a:prstGeom prst="rect">
            <a:avLst/>
          </a:prstGeom>
          <a:noFill/>
        </p:spPr>
        <p:txBody>
          <a:bodyPr wrap="square">
            <a:spAutoFit/>
          </a:bodyPr>
          <a:lstStyle/>
          <a:p>
            <a:pPr>
              <a:defRPr sz="1500" b="1">
                <a:solidFill>
                  <a:srgbClr val="38BDF8"/>
                </a:solidFill>
              </a:defRPr>
            </a:pPr>
            <a:r>
              <a:rPr sz="1600" dirty="0"/>
              <a:t>Intermediary Server Exposure</a:t>
            </a:r>
          </a:p>
        </p:txBody>
      </p:sp>
      <p:sp>
        <p:nvSpPr>
          <p:cNvPr id="8" name="TextBox 7"/>
          <p:cNvSpPr txBox="1"/>
          <p:nvPr/>
        </p:nvSpPr>
        <p:spPr>
          <a:xfrm>
            <a:off x="914400" y="3794760"/>
            <a:ext cx="3017520" cy="1323439"/>
          </a:xfrm>
          <a:prstGeom prst="rect">
            <a:avLst/>
          </a:prstGeom>
          <a:noFill/>
        </p:spPr>
        <p:txBody>
          <a:bodyPr wrap="square">
            <a:spAutoFit/>
          </a:bodyPr>
          <a:lstStyle/>
          <a:p>
            <a:pPr>
              <a:defRPr sz="1300">
                <a:solidFill>
                  <a:srgbClr val="94A3B8"/>
                </a:solidFill>
              </a:defRPr>
            </a:pPr>
            <a:r>
              <a:rPr sz="1600" dirty="0"/>
              <a:t>Centralized relays traditionally terminate transport connections, exposing plaintext messages and credentials in server databases and memory buffers.</a:t>
            </a:r>
          </a:p>
        </p:txBody>
      </p:sp>
      <p:sp>
        <p:nvSpPr>
          <p:cNvPr id="9" name="Rounded Rectangle 8"/>
          <p:cNvSpPr/>
          <p:nvPr/>
        </p:nvSpPr>
        <p:spPr>
          <a:xfrm>
            <a:off x="4389120" y="3291840"/>
            <a:ext cx="3383280" cy="3017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3474720"/>
            <a:ext cx="2926080" cy="338554"/>
          </a:xfrm>
          <a:prstGeom prst="rect">
            <a:avLst/>
          </a:prstGeom>
          <a:noFill/>
        </p:spPr>
        <p:txBody>
          <a:bodyPr wrap="square">
            <a:spAutoFit/>
          </a:bodyPr>
          <a:lstStyle/>
          <a:p>
            <a:pPr>
              <a:defRPr sz="1500" b="1">
                <a:solidFill>
                  <a:srgbClr val="38BDF8"/>
                </a:solidFill>
              </a:defRPr>
            </a:pPr>
            <a:r>
              <a:rPr sz="1600" dirty="0"/>
              <a:t>Key Exchange Vulnerability</a:t>
            </a:r>
          </a:p>
        </p:txBody>
      </p:sp>
      <p:sp>
        <p:nvSpPr>
          <p:cNvPr id="11" name="TextBox 10"/>
          <p:cNvSpPr txBox="1"/>
          <p:nvPr/>
        </p:nvSpPr>
        <p:spPr>
          <a:xfrm>
            <a:off x="4572000" y="3794760"/>
            <a:ext cx="3017520" cy="1569660"/>
          </a:xfrm>
          <a:prstGeom prst="rect">
            <a:avLst/>
          </a:prstGeom>
          <a:noFill/>
        </p:spPr>
        <p:txBody>
          <a:bodyPr wrap="square">
            <a:spAutoFit/>
          </a:bodyPr>
          <a:lstStyle/>
          <a:p>
            <a:pPr>
              <a:defRPr sz="1300">
                <a:solidFill>
                  <a:srgbClr val="94A3B8"/>
                </a:solidFill>
              </a:defRPr>
            </a:pPr>
            <a:r>
              <a:rPr sz="1600" dirty="0"/>
              <a:t>Transmitting symmetric keys directly over networks allows interceptors to obtain keys. Basic unauthenticated DH remains vulnerable to active MITM substitution.</a:t>
            </a:r>
          </a:p>
        </p:txBody>
      </p:sp>
      <p:sp>
        <p:nvSpPr>
          <p:cNvPr id="12" name="Rounded Rectangle 11"/>
          <p:cNvSpPr/>
          <p:nvPr/>
        </p:nvSpPr>
        <p:spPr>
          <a:xfrm>
            <a:off x="8046720" y="3291840"/>
            <a:ext cx="3383280" cy="30175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75320" y="3474720"/>
            <a:ext cx="2926080" cy="338554"/>
          </a:xfrm>
          <a:prstGeom prst="rect">
            <a:avLst/>
          </a:prstGeom>
          <a:noFill/>
        </p:spPr>
        <p:txBody>
          <a:bodyPr wrap="square">
            <a:spAutoFit/>
          </a:bodyPr>
          <a:lstStyle/>
          <a:p>
            <a:pPr>
              <a:defRPr sz="1500" b="1">
                <a:solidFill>
                  <a:srgbClr val="38BDF8"/>
                </a:solidFill>
              </a:defRPr>
            </a:pPr>
            <a:r>
              <a:rPr sz="1600" dirty="0"/>
              <a:t>Lack of Independent Integrity</a:t>
            </a:r>
          </a:p>
        </p:txBody>
      </p:sp>
      <p:sp>
        <p:nvSpPr>
          <p:cNvPr id="14" name="TextBox 13"/>
          <p:cNvSpPr txBox="1"/>
          <p:nvPr/>
        </p:nvSpPr>
        <p:spPr>
          <a:xfrm>
            <a:off x="8229600" y="3794760"/>
            <a:ext cx="3017520" cy="1323439"/>
          </a:xfrm>
          <a:prstGeom prst="rect">
            <a:avLst/>
          </a:prstGeom>
          <a:noFill/>
        </p:spPr>
        <p:txBody>
          <a:bodyPr wrap="square">
            <a:spAutoFit/>
          </a:bodyPr>
          <a:lstStyle/>
          <a:p>
            <a:pPr>
              <a:defRPr sz="1300">
                <a:solidFill>
                  <a:srgbClr val="94A3B8"/>
                </a:solidFill>
              </a:defRPr>
            </a:pPr>
            <a:r>
              <a:rPr sz="1600" dirty="0"/>
              <a:t>Without cryptographically binding IV, ciphertext, and sequence nonces via MAC, adversaries can alter bits or replay legitimate intercepted commands.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PROBLEM IDENTIFICATION</a:t>
            </a:r>
          </a:p>
        </p:txBody>
      </p:sp>
      <p:sp>
        <p:nvSpPr>
          <p:cNvPr id="4" name="TextBox 3"/>
          <p:cNvSpPr txBox="1"/>
          <p:nvPr/>
        </p:nvSpPr>
        <p:spPr>
          <a:xfrm>
            <a:off x="731520" y="685800"/>
            <a:ext cx="10698480" cy="523220"/>
          </a:xfrm>
          <a:prstGeom prst="rect">
            <a:avLst/>
          </a:prstGeom>
          <a:noFill/>
        </p:spPr>
        <p:txBody>
          <a:bodyPr wrap="square">
            <a:spAutoFit/>
          </a:bodyPr>
          <a:lstStyle/>
          <a:p>
            <a:pPr>
              <a:defRPr sz="2400" b="1">
                <a:solidFill>
                  <a:srgbClr val="F8FAFC"/>
                </a:solidFill>
              </a:defRPr>
            </a:pPr>
            <a:r>
              <a:rPr sz="2800" dirty="0"/>
              <a:t>Threat Model &amp; Specific Attack Vectors</a:t>
            </a:r>
          </a:p>
        </p:txBody>
      </p:sp>
      <p:sp>
        <p:nvSpPr>
          <p:cNvPr id="5" name="Rounded Rectangle 4"/>
          <p:cNvSpPr/>
          <p:nvPr/>
        </p:nvSpPr>
        <p:spPr>
          <a:xfrm>
            <a:off x="731520" y="164592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4800600" cy="338554"/>
          </a:xfrm>
          <a:prstGeom prst="rect">
            <a:avLst/>
          </a:prstGeom>
          <a:noFill/>
        </p:spPr>
        <p:txBody>
          <a:bodyPr wrap="square">
            <a:spAutoFit/>
          </a:bodyPr>
          <a:lstStyle/>
          <a:p>
            <a:pPr>
              <a:defRPr sz="1500" b="1">
                <a:solidFill>
                  <a:srgbClr val="38BDF8"/>
                </a:solidFill>
              </a:defRPr>
            </a:pPr>
            <a:r>
              <a:rPr sz="1600" dirty="0"/>
              <a:t>Attack 1: Eavesdropping / Sniffing</a:t>
            </a:r>
          </a:p>
        </p:txBody>
      </p:sp>
      <p:sp>
        <p:nvSpPr>
          <p:cNvPr id="7" name="TextBox 6"/>
          <p:cNvSpPr txBox="1"/>
          <p:nvPr/>
        </p:nvSpPr>
        <p:spPr>
          <a:xfrm>
            <a:off x="960120" y="2148840"/>
            <a:ext cx="4800600" cy="276999"/>
          </a:xfrm>
          <a:prstGeom prst="rect">
            <a:avLst/>
          </a:prstGeom>
          <a:noFill/>
        </p:spPr>
        <p:txBody>
          <a:bodyPr wrap="square">
            <a:spAutoFit/>
          </a:bodyPr>
          <a:lstStyle/>
          <a:p>
            <a:pPr>
              <a:defRPr sz="1100">
                <a:solidFill>
                  <a:srgbClr val="94A3B8"/>
                </a:solidFill>
              </a:defRPr>
            </a:pPr>
            <a:r>
              <a:rPr sz="1200"/>
              <a:t>Passive Attack</a:t>
            </a:r>
          </a:p>
        </p:txBody>
      </p:sp>
      <p:sp>
        <p:nvSpPr>
          <p:cNvPr id="8" name="TextBox 7"/>
          <p:cNvSpPr txBox="1"/>
          <p:nvPr/>
        </p:nvSpPr>
        <p:spPr>
          <a:xfrm>
            <a:off x="914400" y="2423160"/>
            <a:ext cx="4892040" cy="1077218"/>
          </a:xfrm>
          <a:prstGeom prst="rect">
            <a:avLst/>
          </a:prstGeom>
          <a:noFill/>
        </p:spPr>
        <p:txBody>
          <a:bodyPr wrap="square">
            <a:spAutoFit/>
          </a:bodyPr>
          <a:lstStyle/>
          <a:p>
            <a:pPr>
              <a:defRPr sz="1300">
                <a:solidFill>
                  <a:srgbClr val="94A3B8"/>
                </a:solidFill>
              </a:defRPr>
            </a:pPr>
            <a:r>
              <a:rPr sz="1600" dirty="0"/>
              <a:t>Adversaries intercept unencrypted network packets (e.g. using packet analyzers like Wireshark) on untrusted LANs/Wi-Fi, reading plaintext messages and sensitive user data.</a:t>
            </a:r>
          </a:p>
        </p:txBody>
      </p:sp>
      <p:sp>
        <p:nvSpPr>
          <p:cNvPr id="9" name="Rounded Rectangle 8"/>
          <p:cNvSpPr/>
          <p:nvPr/>
        </p:nvSpPr>
        <p:spPr>
          <a:xfrm>
            <a:off x="6172200" y="164592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28800"/>
            <a:ext cx="4800600" cy="338554"/>
          </a:xfrm>
          <a:prstGeom prst="rect">
            <a:avLst/>
          </a:prstGeom>
          <a:noFill/>
        </p:spPr>
        <p:txBody>
          <a:bodyPr wrap="square">
            <a:spAutoFit/>
          </a:bodyPr>
          <a:lstStyle/>
          <a:p>
            <a:pPr>
              <a:defRPr sz="1500" b="1">
                <a:solidFill>
                  <a:srgbClr val="38BDF8"/>
                </a:solidFill>
              </a:defRPr>
            </a:pPr>
            <a:r>
              <a:rPr sz="1600"/>
              <a:t>Attack 2: Message Tampering</a:t>
            </a:r>
          </a:p>
        </p:txBody>
      </p:sp>
      <p:sp>
        <p:nvSpPr>
          <p:cNvPr id="11" name="TextBox 10"/>
          <p:cNvSpPr txBox="1"/>
          <p:nvPr/>
        </p:nvSpPr>
        <p:spPr>
          <a:xfrm>
            <a:off x="6400800" y="2148840"/>
            <a:ext cx="4800600" cy="276999"/>
          </a:xfrm>
          <a:prstGeom prst="rect">
            <a:avLst/>
          </a:prstGeom>
          <a:noFill/>
        </p:spPr>
        <p:txBody>
          <a:bodyPr wrap="square">
            <a:spAutoFit/>
          </a:bodyPr>
          <a:lstStyle/>
          <a:p>
            <a:pPr>
              <a:defRPr sz="1100">
                <a:solidFill>
                  <a:srgbClr val="94A3B8"/>
                </a:solidFill>
              </a:defRPr>
            </a:pPr>
            <a:r>
              <a:rPr sz="1200"/>
              <a:t>Active Attack</a:t>
            </a:r>
          </a:p>
        </p:txBody>
      </p:sp>
      <p:sp>
        <p:nvSpPr>
          <p:cNvPr id="12" name="TextBox 11"/>
          <p:cNvSpPr txBox="1"/>
          <p:nvPr/>
        </p:nvSpPr>
        <p:spPr>
          <a:xfrm>
            <a:off x="6355080" y="2423160"/>
            <a:ext cx="4892040" cy="830997"/>
          </a:xfrm>
          <a:prstGeom prst="rect">
            <a:avLst/>
          </a:prstGeom>
          <a:noFill/>
        </p:spPr>
        <p:txBody>
          <a:bodyPr wrap="square">
            <a:spAutoFit/>
          </a:bodyPr>
          <a:lstStyle/>
          <a:p>
            <a:pPr>
              <a:defRPr sz="1300">
                <a:solidFill>
                  <a:srgbClr val="94A3B8"/>
                </a:solidFill>
              </a:defRPr>
            </a:pPr>
            <a:r>
              <a:rPr sz="1600"/>
              <a:t>An adversary in transit modifies bits in the ciphertext or parameters, attempting to alter transaction amounts, names, or instructions without recipient detection.</a:t>
            </a:r>
          </a:p>
        </p:txBody>
      </p:sp>
      <p:sp>
        <p:nvSpPr>
          <p:cNvPr id="13" name="Rounded Rectangle 12"/>
          <p:cNvSpPr/>
          <p:nvPr/>
        </p:nvSpPr>
        <p:spPr>
          <a:xfrm>
            <a:off x="731520" y="402336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206240"/>
            <a:ext cx="4800600" cy="338554"/>
          </a:xfrm>
          <a:prstGeom prst="rect">
            <a:avLst/>
          </a:prstGeom>
          <a:noFill/>
        </p:spPr>
        <p:txBody>
          <a:bodyPr wrap="square">
            <a:spAutoFit/>
          </a:bodyPr>
          <a:lstStyle/>
          <a:p>
            <a:pPr>
              <a:defRPr sz="1500" b="1">
                <a:solidFill>
                  <a:srgbClr val="38BDF8"/>
                </a:solidFill>
              </a:defRPr>
            </a:pPr>
            <a:r>
              <a:rPr sz="1600"/>
              <a:t>Attack 3: Replay Attack</a:t>
            </a:r>
          </a:p>
        </p:txBody>
      </p:sp>
      <p:sp>
        <p:nvSpPr>
          <p:cNvPr id="15" name="TextBox 14"/>
          <p:cNvSpPr txBox="1"/>
          <p:nvPr/>
        </p:nvSpPr>
        <p:spPr>
          <a:xfrm>
            <a:off x="960120" y="4526280"/>
            <a:ext cx="4800600" cy="276999"/>
          </a:xfrm>
          <a:prstGeom prst="rect">
            <a:avLst/>
          </a:prstGeom>
          <a:noFill/>
        </p:spPr>
        <p:txBody>
          <a:bodyPr wrap="square">
            <a:spAutoFit/>
          </a:bodyPr>
          <a:lstStyle/>
          <a:p>
            <a:pPr>
              <a:defRPr sz="1100">
                <a:solidFill>
                  <a:srgbClr val="94A3B8"/>
                </a:solidFill>
              </a:defRPr>
            </a:pPr>
            <a:r>
              <a:rPr sz="1200"/>
              <a:t>Active Attack</a:t>
            </a:r>
          </a:p>
        </p:txBody>
      </p:sp>
      <p:sp>
        <p:nvSpPr>
          <p:cNvPr id="16" name="TextBox 15"/>
          <p:cNvSpPr txBox="1"/>
          <p:nvPr/>
        </p:nvSpPr>
        <p:spPr>
          <a:xfrm>
            <a:off x="914400" y="4800600"/>
            <a:ext cx="4892040" cy="830997"/>
          </a:xfrm>
          <a:prstGeom prst="rect">
            <a:avLst/>
          </a:prstGeom>
          <a:noFill/>
        </p:spPr>
        <p:txBody>
          <a:bodyPr wrap="square">
            <a:spAutoFit/>
          </a:bodyPr>
          <a:lstStyle/>
          <a:p>
            <a:pPr>
              <a:defRPr sz="1300">
                <a:solidFill>
                  <a:srgbClr val="94A3B8"/>
                </a:solidFill>
              </a:defRPr>
            </a:pPr>
            <a:r>
              <a:rPr sz="1600"/>
              <a:t>An attacker captures a valid encrypted transaction packet and re-transmits it later, causing unintended duplicate actions (e.g. repeated funds transfer).</a:t>
            </a:r>
          </a:p>
        </p:txBody>
      </p:sp>
      <p:sp>
        <p:nvSpPr>
          <p:cNvPr id="17" name="Rounded Rectangle 16"/>
          <p:cNvSpPr/>
          <p:nvPr/>
        </p:nvSpPr>
        <p:spPr>
          <a:xfrm>
            <a:off x="6172200" y="402336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4206240"/>
            <a:ext cx="4800600" cy="338554"/>
          </a:xfrm>
          <a:prstGeom prst="rect">
            <a:avLst/>
          </a:prstGeom>
          <a:noFill/>
        </p:spPr>
        <p:txBody>
          <a:bodyPr wrap="square">
            <a:spAutoFit/>
          </a:bodyPr>
          <a:lstStyle/>
          <a:p>
            <a:pPr>
              <a:defRPr sz="1500" b="1">
                <a:solidFill>
                  <a:srgbClr val="38BDF8"/>
                </a:solidFill>
              </a:defRPr>
            </a:pPr>
            <a:r>
              <a:rPr sz="1600"/>
              <a:t>Attack 4: Man-in-the-Middle (MITM)</a:t>
            </a:r>
          </a:p>
        </p:txBody>
      </p:sp>
      <p:sp>
        <p:nvSpPr>
          <p:cNvPr id="19" name="TextBox 18"/>
          <p:cNvSpPr txBox="1"/>
          <p:nvPr/>
        </p:nvSpPr>
        <p:spPr>
          <a:xfrm>
            <a:off x="6400800" y="4526280"/>
            <a:ext cx="4800600" cy="276999"/>
          </a:xfrm>
          <a:prstGeom prst="rect">
            <a:avLst/>
          </a:prstGeom>
          <a:noFill/>
        </p:spPr>
        <p:txBody>
          <a:bodyPr wrap="square">
            <a:spAutoFit/>
          </a:bodyPr>
          <a:lstStyle/>
          <a:p>
            <a:pPr>
              <a:defRPr sz="1100">
                <a:solidFill>
                  <a:srgbClr val="94A3B8"/>
                </a:solidFill>
              </a:defRPr>
            </a:pPr>
            <a:r>
              <a:rPr sz="1200"/>
              <a:t>Asymmetric Attack</a:t>
            </a:r>
          </a:p>
        </p:txBody>
      </p:sp>
      <p:sp>
        <p:nvSpPr>
          <p:cNvPr id="20" name="TextBox 19"/>
          <p:cNvSpPr txBox="1"/>
          <p:nvPr/>
        </p:nvSpPr>
        <p:spPr>
          <a:xfrm>
            <a:off x="6355080" y="4800600"/>
            <a:ext cx="4892040" cy="1077218"/>
          </a:xfrm>
          <a:prstGeom prst="rect">
            <a:avLst/>
          </a:prstGeom>
          <a:noFill/>
        </p:spPr>
        <p:txBody>
          <a:bodyPr wrap="square">
            <a:spAutoFit/>
          </a:bodyPr>
          <a:lstStyle/>
          <a:p>
            <a:pPr>
              <a:defRPr sz="1300">
                <a:solidFill>
                  <a:srgbClr val="94A3B8"/>
                </a:solidFill>
              </a:defRPr>
            </a:pPr>
            <a:r>
              <a:rPr sz="1600"/>
              <a:t>In unauthenticated Diffie-Hellman, Eve intercepts public value A and replaces it with A', establishing separate shared secrets with both Alice and Bob while impersonating them.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SYSTEM DESIGN</a:t>
            </a:r>
          </a:p>
        </p:txBody>
      </p:sp>
      <p:sp>
        <p:nvSpPr>
          <p:cNvPr id="4" name="TextBox 3"/>
          <p:cNvSpPr txBox="1"/>
          <p:nvPr/>
        </p:nvSpPr>
        <p:spPr>
          <a:xfrm>
            <a:off x="731520" y="685800"/>
            <a:ext cx="10698480" cy="523220"/>
          </a:xfrm>
          <a:prstGeom prst="rect">
            <a:avLst/>
          </a:prstGeom>
          <a:noFill/>
        </p:spPr>
        <p:txBody>
          <a:bodyPr wrap="square">
            <a:spAutoFit/>
          </a:bodyPr>
          <a:lstStyle/>
          <a:p>
            <a:pPr>
              <a:defRPr sz="2400" b="1">
                <a:solidFill>
                  <a:srgbClr val="F8FAFC"/>
                </a:solidFill>
              </a:defRPr>
            </a:pPr>
            <a:r>
              <a:rPr sz="2800" dirty="0"/>
              <a:t>Proposed System Architecture &amp; Zero-Knowledge Relay</a:t>
            </a:r>
          </a:p>
        </p:txBody>
      </p:sp>
      <p:sp>
        <p:nvSpPr>
          <p:cNvPr id="5" name="Rounded Rectangle 4"/>
          <p:cNvSpPr/>
          <p:nvPr/>
        </p:nvSpPr>
        <p:spPr>
          <a:xfrm>
            <a:off x="7315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26080" cy="323165"/>
          </a:xfrm>
          <a:prstGeom prst="rect">
            <a:avLst/>
          </a:prstGeom>
          <a:noFill/>
        </p:spPr>
        <p:txBody>
          <a:bodyPr wrap="square">
            <a:spAutoFit/>
          </a:bodyPr>
          <a:lstStyle/>
          <a:p>
            <a:pPr>
              <a:defRPr sz="1500" b="1">
                <a:solidFill>
                  <a:srgbClr val="38BDF8"/>
                </a:solidFill>
              </a:defRPr>
            </a:pPr>
            <a:r>
              <a:rPr dirty="0"/>
              <a:t>1. Client Layer (Alice &amp; Bob)</a:t>
            </a:r>
          </a:p>
        </p:txBody>
      </p:sp>
      <p:sp>
        <p:nvSpPr>
          <p:cNvPr id="7" name="TextBox 6"/>
          <p:cNvSpPr txBox="1"/>
          <p:nvPr/>
        </p:nvSpPr>
        <p:spPr>
          <a:xfrm>
            <a:off x="960120" y="2148840"/>
            <a:ext cx="2926080" cy="307777"/>
          </a:xfrm>
          <a:prstGeom prst="rect">
            <a:avLst/>
          </a:prstGeom>
          <a:noFill/>
        </p:spPr>
        <p:txBody>
          <a:bodyPr wrap="square">
            <a:spAutoFit/>
          </a:bodyPr>
          <a:lstStyle/>
          <a:p>
            <a:pPr>
              <a:defRPr sz="1100">
                <a:solidFill>
                  <a:srgbClr val="94A3B8"/>
                </a:solidFill>
              </a:defRPr>
            </a:pPr>
            <a:r>
              <a:rPr sz="1400" dirty="0"/>
              <a:t>End-to-End Cryptographic Boundary</a:t>
            </a:r>
          </a:p>
        </p:txBody>
      </p:sp>
      <p:sp>
        <p:nvSpPr>
          <p:cNvPr id="8" name="TextBox 7"/>
          <p:cNvSpPr txBox="1"/>
          <p:nvPr/>
        </p:nvSpPr>
        <p:spPr>
          <a:xfrm>
            <a:off x="914400" y="2423160"/>
            <a:ext cx="3017520" cy="3108543"/>
          </a:xfrm>
          <a:prstGeom prst="rect">
            <a:avLst/>
          </a:prstGeom>
          <a:noFill/>
        </p:spPr>
        <p:txBody>
          <a:bodyPr wrap="square">
            <a:spAutoFit/>
          </a:bodyPr>
          <a:lstStyle/>
          <a:p>
            <a:pPr>
              <a:spcAft>
                <a:spcPts val="800"/>
              </a:spcAft>
              <a:defRPr sz="1200">
                <a:solidFill>
                  <a:srgbClr val="94A3B8"/>
                </a:solidFill>
              </a:defRPr>
            </a:pPr>
            <a:r>
              <a:rPr sz="1600" dirty="0"/>
              <a:t>• Generates ephemeral Diffie-Hellman keypairs locally in client memory.</a:t>
            </a:r>
          </a:p>
          <a:p>
            <a:pPr>
              <a:spcAft>
                <a:spcPts val="800"/>
              </a:spcAft>
              <a:defRPr sz="1200">
                <a:solidFill>
                  <a:srgbClr val="94A3B8"/>
                </a:solidFill>
              </a:defRPr>
            </a:pPr>
            <a:r>
              <a:rPr sz="1600" dirty="0"/>
              <a:t>• Computes shared secret and derives symmetric keys via HKDF-SHA256.</a:t>
            </a:r>
          </a:p>
          <a:p>
            <a:pPr>
              <a:spcAft>
                <a:spcPts val="800"/>
              </a:spcAft>
              <a:defRPr sz="1200">
                <a:solidFill>
                  <a:srgbClr val="94A3B8"/>
                </a:solidFill>
              </a:defRPr>
            </a:pPr>
            <a:r>
              <a:rPr sz="1600" dirty="0"/>
              <a:t>• Performs client-side AES-256-CBC encryption and HMAC-SHA256 generation.</a:t>
            </a:r>
          </a:p>
          <a:p>
            <a:pPr>
              <a:spcAft>
                <a:spcPts val="800"/>
              </a:spcAft>
              <a:defRPr sz="1200">
                <a:solidFill>
                  <a:srgbClr val="94A3B8"/>
                </a:solidFill>
              </a:defRPr>
            </a:pPr>
            <a:r>
              <a:rPr sz="1600" dirty="0"/>
              <a:t>• Validates HMAC and decrypts messages strictly on client device.</a:t>
            </a:r>
          </a:p>
        </p:txBody>
      </p:sp>
      <p:sp>
        <p:nvSpPr>
          <p:cNvPr id="9" name="Rounded Rectangle 8"/>
          <p:cNvSpPr/>
          <p:nvPr/>
        </p:nvSpPr>
        <p:spPr>
          <a:xfrm>
            <a:off x="43891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828800"/>
            <a:ext cx="2926080" cy="323165"/>
          </a:xfrm>
          <a:prstGeom prst="rect">
            <a:avLst/>
          </a:prstGeom>
          <a:noFill/>
        </p:spPr>
        <p:txBody>
          <a:bodyPr wrap="square">
            <a:spAutoFit/>
          </a:bodyPr>
          <a:lstStyle/>
          <a:p>
            <a:pPr>
              <a:defRPr sz="1500" b="1">
                <a:solidFill>
                  <a:srgbClr val="38BDF8"/>
                </a:solidFill>
              </a:defRPr>
            </a:pPr>
            <a:r>
              <a:t>2. Transport Layer (TLS / HTTPS)</a:t>
            </a:r>
          </a:p>
        </p:txBody>
      </p:sp>
      <p:sp>
        <p:nvSpPr>
          <p:cNvPr id="11" name="TextBox 10"/>
          <p:cNvSpPr txBox="1"/>
          <p:nvPr/>
        </p:nvSpPr>
        <p:spPr>
          <a:xfrm>
            <a:off x="4617720" y="2148840"/>
            <a:ext cx="2926080" cy="307777"/>
          </a:xfrm>
          <a:prstGeom prst="rect">
            <a:avLst/>
          </a:prstGeom>
          <a:noFill/>
        </p:spPr>
        <p:txBody>
          <a:bodyPr wrap="square">
            <a:spAutoFit/>
          </a:bodyPr>
          <a:lstStyle/>
          <a:p>
            <a:pPr>
              <a:defRPr sz="1100">
                <a:solidFill>
                  <a:srgbClr val="94A3B8"/>
                </a:solidFill>
              </a:defRPr>
            </a:pPr>
            <a:r>
              <a:rPr sz="1400"/>
              <a:t>Communication Channel Security</a:t>
            </a:r>
          </a:p>
        </p:txBody>
      </p:sp>
      <p:sp>
        <p:nvSpPr>
          <p:cNvPr id="12" name="TextBox 11"/>
          <p:cNvSpPr txBox="1"/>
          <p:nvPr/>
        </p:nvSpPr>
        <p:spPr>
          <a:xfrm>
            <a:off x="4572000" y="2423160"/>
            <a:ext cx="3017520" cy="2513509"/>
          </a:xfrm>
          <a:prstGeom prst="rect">
            <a:avLst/>
          </a:prstGeom>
          <a:noFill/>
        </p:spPr>
        <p:txBody>
          <a:bodyPr wrap="square">
            <a:spAutoFit/>
          </a:bodyPr>
          <a:lstStyle/>
          <a:p>
            <a:pPr>
              <a:spcAft>
                <a:spcPts val="800"/>
              </a:spcAft>
              <a:defRPr sz="1200">
                <a:solidFill>
                  <a:srgbClr val="94A3B8"/>
                </a:solidFill>
              </a:defRPr>
            </a:pPr>
            <a:r>
              <a:rPr sz="1600"/>
              <a:t>• Encapsulates client-server communication inside TLS 1.3 encrypted tunnels.</a:t>
            </a:r>
          </a:p>
          <a:p>
            <a:pPr>
              <a:spcAft>
                <a:spcPts val="800"/>
              </a:spcAft>
              <a:defRPr sz="1200">
                <a:solidFill>
                  <a:srgbClr val="94A3B8"/>
                </a:solidFill>
              </a:defRPr>
            </a:pPr>
            <a:r>
              <a:rPr sz="1600"/>
              <a:t>• Utilizes X.509 certificates to protect transport links against eavesdropping.</a:t>
            </a:r>
          </a:p>
          <a:p>
            <a:pPr>
              <a:spcAft>
                <a:spcPts val="800"/>
              </a:spcAft>
              <a:defRPr sz="1200">
                <a:solidFill>
                  <a:srgbClr val="94A3B8"/>
                </a:solidFill>
              </a:defRPr>
            </a:pPr>
            <a:r>
              <a:rPr sz="1600"/>
              <a:t>• Provides hop-by-hop transport confidentiality and channel integrity.</a:t>
            </a:r>
          </a:p>
        </p:txBody>
      </p:sp>
      <p:sp>
        <p:nvSpPr>
          <p:cNvPr id="13" name="Rounded Rectangle 12"/>
          <p:cNvSpPr/>
          <p:nvPr/>
        </p:nvSpPr>
        <p:spPr>
          <a:xfrm>
            <a:off x="80467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828800"/>
            <a:ext cx="2926080" cy="323165"/>
          </a:xfrm>
          <a:prstGeom prst="rect">
            <a:avLst/>
          </a:prstGeom>
          <a:noFill/>
        </p:spPr>
        <p:txBody>
          <a:bodyPr wrap="square">
            <a:spAutoFit/>
          </a:bodyPr>
          <a:lstStyle/>
          <a:p>
            <a:pPr>
              <a:defRPr sz="1500" b="1">
                <a:solidFill>
                  <a:srgbClr val="38BDF8"/>
                </a:solidFill>
              </a:defRPr>
            </a:pPr>
            <a:r>
              <a:t>3. Server Relay Layer (Flask)</a:t>
            </a:r>
          </a:p>
        </p:txBody>
      </p:sp>
      <p:sp>
        <p:nvSpPr>
          <p:cNvPr id="15" name="TextBox 14"/>
          <p:cNvSpPr txBox="1"/>
          <p:nvPr/>
        </p:nvSpPr>
        <p:spPr>
          <a:xfrm>
            <a:off x="8275320" y="2148840"/>
            <a:ext cx="2926080" cy="307777"/>
          </a:xfrm>
          <a:prstGeom prst="rect">
            <a:avLst/>
          </a:prstGeom>
          <a:noFill/>
        </p:spPr>
        <p:txBody>
          <a:bodyPr wrap="square">
            <a:spAutoFit/>
          </a:bodyPr>
          <a:lstStyle/>
          <a:p>
            <a:pPr>
              <a:defRPr sz="1100">
                <a:solidFill>
                  <a:srgbClr val="94A3B8"/>
                </a:solidFill>
              </a:defRPr>
            </a:pPr>
            <a:r>
              <a:rPr sz="1400"/>
              <a:t>Untrusted Relay &amp; Message Broker</a:t>
            </a:r>
          </a:p>
        </p:txBody>
      </p:sp>
      <p:sp>
        <p:nvSpPr>
          <p:cNvPr id="16" name="TextBox 15"/>
          <p:cNvSpPr txBox="1"/>
          <p:nvPr/>
        </p:nvSpPr>
        <p:spPr>
          <a:xfrm>
            <a:off x="8229600" y="2423160"/>
            <a:ext cx="3017520" cy="3108543"/>
          </a:xfrm>
          <a:prstGeom prst="rect">
            <a:avLst/>
          </a:prstGeom>
          <a:noFill/>
        </p:spPr>
        <p:txBody>
          <a:bodyPr wrap="square">
            <a:spAutoFit/>
          </a:bodyPr>
          <a:lstStyle/>
          <a:p>
            <a:pPr>
              <a:spcAft>
                <a:spcPts val="800"/>
              </a:spcAft>
              <a:defRPr sz="1200">
                <a:solidFill>
                  <a:srgbClr val="94A3B8"/>
                </a:solidFill>
              </a:defRPr>
            </a:pPr>
            <a:r>
              <a:rPr sz="1600"/>
              <a:t>• Coordinates public DH parameters (p, g, A, B) without learning private keys.</a:t>
            </a:r>
          </a:p>
          <a:p>
            <a:pPr>
              <a:spcAft>
                <a:spcPts val="800"/>
              </a:spcAft>
              <a:defRPr sz="1200">
                <a:solidFill>
                  <a:srgbClr val="94A3B8"/>
                </a:solidFill>
              </a:defRPr>
            </a:pPr>
            <a:r>
              <a:rPr sz="1600"/>
              <a:t>• Enforces anti-replay verification (message ID &amp; sequence check).</a:t>
            </a:r>
          </a:p>
          <a:p>
            <a:pPr>
              <a:spcAft>
                <a:spcPts val="800"/>
              </a:spcAft>
              <a:defRPr sz="1200">
                <a:solidFill>
                  <a:srgbClr val="94A3B8"/>
                </a:solidFill>
              </a:defRPr>
            </a:pPr>
            <a:r>
              <a:rPr sz="1600"/>
              <a:t>• Stores &amp; queues ONLY ciphertext, IV, HMAC tag, and timestamp.</a:t>
            </a:r>
          </a:p>
          <a:p>
            <a:pPr>
              <a:spcAft>
                <a:spcPts val="800"/>
              </a:spcAft>
              <a:defRPr sz="1200">
                <a:solidFill>
                  <a:srgbClr val="94A3B8"/>
                </a:solidFill>
              </a:defRPr>
            </a:pPr>
            <a:r>
              <a:rPr sz="1600"/>
              <a:t>• Core Security Invariant: Zero plaintext messages or session keys on server.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SYSTEM DESIGN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rPr dirty="0"/>
              <a:t>Hybrid Cryptographic Pipeline Specification</a:t>
            </a:r>
          </a:p>
        </p:txBody>
      </p:sp>
      <p:sp>
        <p:nvSpPr>
          <p:cNvPr id="5" name="Rounded Rectangle 4"/>
          <p:cNvSpPr/>
          <p:nvPr/>
        </p:nvSpPr>
        <p:spPr>
          <a:xfrm>
            <a:off x="731520" y="1645920"/>
            <a:ext cx="251460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057400" cy="338554"/>
          </a:xfrm>
          <a:prstGeom prst="rect">
            <a:avLst/>
          </a:prstGeom>
          <a:noFill/>
        </p:spPr>
        <p:txBody>
          <a:bodyPr wrap="square">
            <a:spAutoFit/>
          </a:bodyPr>
          <a:lstStyle/>
          <a:p>
            <a:pPr>
              <a:defRPr sz="1500" b="1">
                <a:solidFill>
                  <a:srgbClr val="38BDF8"/>
                </a:solidFill>
              </a:defRPr>
            </a:pPr>
            <a:r>
              <a:rPr sz="1600"/>
              <a:t>Key Exchange (DH)</a:t>
            </a:r>
          </a:p>
        </p:txBody>
      </p:sp>
      <p:sp>
        <p:nvSpPr>
          <p:cNvPr id="7" name="TextBox 6"/>
          <p:cNvSpPr txBox="1"/>
          <p:nvPr/>
        </p:nvSpPr>
        <p:spPr>
          <a:xfrm>
            <a:off x="960120" y="2148840"/>
            <a:ext cx="2057400" cy="338554"/>
          </a:xfrm>
          <a:prstGeom prst="rect">
            <a:avLst/>
          </a:prstGeom>
          <a:noFill/>
        </p:spPr>
        <p:txBody>
          <a:bodyPr wrap="square">
            <a:spAutoFit/>
          </a:bodyPr>
          <a:lstStyle/>
          <a:p>
            <a:pPr>
              <a:defRPr sz="1100">
                <a:solidFill>
                  <a:srgbClr val="94A3B8"/>
                </a:solidFill>
              </a:defRPr>
            </a:pPr>
            <a:r>
              <a:rPr sz="1600"/>
              <a:t>RFC 3526 MODP-2048</a:t>
            </a:r>
          </a:p>
        </p:txBody>
      </p:sp>
      <p:sp>
        <p:nvSpPr>
          <p:cNvPr id="8" name="TextBox 7"/>
          <p:cNvSpPr txBox="1"/>
          <p:nvPr/>
        </p:nvSpPr>
        <p:spPr>
          <a:xfrm>
            <a:off x="868680" y="3416220"/>
            <a:ext cx="2240280" cy="1631216"/>
          </a:xfrm>
          <a:prstGeom prst="rect">
            <a:avLst/>
          </a:prstGeom>
          <a:noFill/>
        </p:spPr>
        <p:txBody>
          <a:bodyPr wrap="square">
            <a:spAutoFit/>
          </a:bodyPr>
          <a:lstStyle/>
          <a:p>
            <a:pPr>
              <a:spcAft>
                <a:spcPts val="400"/>
              </a:spcAft>
              <a:defRPr sz="1200">
                <a:solidFill>
                  <a:srgbClr val="94A3B8"/>
                </a:solidFill>
              </a:defRPr>
            </a:pPr>
            <a:r>
              <a:rPr sz="1500" dirty="0"/>
              <a:t>Alice: a, A = </a:t>
            </a:r>
            <a:r>
              <a:rPr sz="1500" dirty="0" err="1"/>
              <a:t>g^a</a:t>
            </a:r>
            <a:r>
              <a:rPr sz="1500" dirty="0"/>
              <a:t> mod p</a:t>
            </a:r>
          </a:p>
          <a:p>
            <a:pPr>
              <a:spcAft>
                <a:spcPts val="400"/>
              </a:spcAft>
              <a:defRPr sz="1200">
                <a:solidFill>
                  <a:srgbClr val="94A3B8"/>
                </a:solidFill>
              </a:defRPr>
            </a:pPr>
            <a:r>
              <a:rPr sz="1500" dirty="0"/>
              <a:t>Bob: b, B = </a:t>
            </a:r>
            <a:r>
              <a:rPr sz="1500" dirty="0" err="1"/>
              <a:t>g^b</a:t>
            </a:r>
            <a:r>
              <a:rPr sz="1500" dirty="0"/>
              <a:t> mod p</a:t>
            </a:r>
          </a:p>
          <a:p>
            <a:pPr>
              <a:spcAft>
                <a:spcPts val="400"/>
              </a:spcAft>
              <a:defRPr sz="1200">
                <a:solidFill>
                  <a:srgbClr val="94A3B8"/>
                </a:solidFill>
              </a:defRPr>
            </a:pPr>
            <a:r>
              <a:rPr sz="1500" dirty="0"/>
              <a:t>Shared Secret S = g^(ab) mod p</a:t>
            </a:r>
          </a:p>
          <a:p>
            <a:pPr>
              <a:spcAft>
                <a:spcPts val="400"/>
              </a:spcAft>
              <a:defRPr sz="1200">
                <a:solidFill>
                  <a:srgbClr val="94A3B8"/>
                </a:solidFill>
              </a:defRPr>
            </a:pPr>
            <a:r>
              <a:rPr sz="1500" dirty="0"/>
              <a:t>Secret never sent over network.</a:t>
            </a:r>
          </a:p>
        </p:txBody>
      </p:sp>
      <p:sp>
        <p:nvSpPr>
          <p:cNvPr id="9" name="Rounded Rectangle 8"/>
          <p:cNvSpPr/>
          <p:nvPr/>
        </p:nvSpPr>
        <p:spPr>
          <a:xfrm>
            <a:off x="3474720" y="1645920"/>
            <a:ext cx="251460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03320" y="1828800"/>
            <a:ext cx="2057400" cy="338554"/>
          </a:xfrm>
          <a:prstGeom prst="rect">
            <a:avLst/>
          </a:prstGeom>
          <a:noFill/>
        </p:spPr>
        <p:txBody>
          <a:bodyPr wrap="square">
            <a:spAutoFit/>
          </a:bodyPr>
          <a:lstStyle/>
          <a:p>
            <a:pPr>
              <a:defRPr sz="1500" b="1">
                <a:solidFill>
                  <a:srgbClr val="38BDF8"/>
                </a:solidFill>
              </a:defRPr>
            </a:pPr>
            <a:r>
              <a:rPr sz="1600"/>
              <a:t>Key Derivation (HKDF)</a:t>
            </a:r>
          </a:p>
        </p:txBody>
      </p:sp>
      <p:sp>
        <p:nvSpPr>
          <p:cNvPr id="11" name="TextBox 10"/>
          <p:cNvSpPr txBox="1"/>
          <p:nvPr/>
        </p:nvSpPr>
        <p:spPr>
          <a:xfrm>
            <a:off x="3703320" y="2148840"/>
            <a:ext cx="2057400" cy="584775"/>
          </a:xfrm>
          <a:prstGeom prst="rect">
            <a:avLst/>
          </a:prstGeom>
          <a:noFill/>
        </p:spPr>
        <p:txBody>
          <a:bodyPr wrap="square">
            <a:spAutoFit/>
          </a:bodyPr>
          <a:lstStyle/>
          <a:p>
            <a:pPr>
              <a:defRPr sz="1100">
                <a:solidFill>
                  <a:srgbClr val="94A3B8"/>
                </a:solidFill>
              </a:defRPr>
            </a:pPr>
            <a:r>
              <a:rPr sz="1600"/>
              <a:t>HKDF-SHA256 (RFC 5869)</a:t>
            </a:r>
          </a:p>
        </p:txBody>
      </p:sp>
      <p:sp>
        <p:nvSpPr>
          <p:cNvPr id="12" name="TextBox 11"/>
          <p:cNvSpPr txBox="1"/>
          <p:nvPr/>
        </p:nvSpPr>
        <p:spPr>
          <a:xfrm>
            <a:off x="3611880" y="3494878"/>
            <a:ext cx="2240280" cy="1862048"/>
          </a:xfrm>
          <a:prstGeom prst="rect">
            <a:avLst/>
          </a:prstGeom>
          <a:noFill/>
        </p:spPr>
        <p:txBody>
          <a:bodyPr wrap="square">
            <a:spAutoFit/>
          </a:bodyPr>
          <a:lstStyle/>
          <a:p>
            <a:pPr>
              <a:spcAft>
                <a:spcPts val="400"/>
              </a:spcAft>
              <a:defRPr sz="1200">
                <a:solidFill>
                  <a:srgbClr val="94A3B8"/>
                </a:solidFill>
              </a:defRPr>
            </a:pPr>
            <a:r>
              <a:rPr sz="1500" dirty="0"/>
              <a:t>Derives independent keys:</a:t>
            </a:r>
          </a:p>
          <a:p>
            <a:pPr>
              <a:spcAft>
                <a:spcPts val="400"/>
              </a:spcAft>
              <a:defRPr sz="1200">
                <a:solidFill>
                  <a:srgbClr val="F8FAFC"/>
                </a:solidFill>
              </a:defRPr>
            </a:pPr>
            <a:r>
              <a:rPr sz="1500" dirty="0"/>
              <a:t>• </a:t>
            </a:r>
            <a:r>
              <a:rPr sz="1500" dirty="0" err="1"/>
              <a:t>K_enc</a:t>
            </a:r>
            <a:r>
              <a:rPr sz="1500" dirty="0"/>
              <a:t> = HKDF(S, '</a:t>
            </a:r>
            <a:r>
              <a:rPr sz="1500" dirty="0" err="1"/>
              <a:t>aes</a:t>
            </a:r>
            <a:r>
              <a:rPr sz="1500" dirty="0"/>
              <a:t>-key')</a:t>
            </a:r>
          </a:p>
          <a:p>
            <a:pPr>
              <a:spcAft>
                <a:spcPts val="400"/>
              </a:spcAft>
              <a:defRPr sz="1200">
                <a:solidFill>
                  <a:srgbClr val="F8FAFC"/>
                </a:solidFill>
              </a:defRPr>
            </a:pPr>
            <a:r>
              <a:rPr sz="1500" dirty="0"/>
              <a:t>• </a:t>
            </a:r>
            <a:r>
              <a:rPr sz="1500" dirty="0" err="1"/>
              <a:t>K_mac</a:t>
            </a:r>
            <a:r>
              <a:rPr sz="1500" dirty="0"/>
              <a:t> = HKDF(S, '</a:t>
            </a:r>
            <a:r>
              <a:rPr sz="1500" dirty="0" err="1"/>
              <a:t>hmac</a:t>
            </a:r>
            <a:r>
              <a:rPr sz="1500" dirty="0"/>
              <a:t>-key')</a:t>
            </a:r>
          </a:p>
          <a:p>
            <a:pPr>
              <a:spcAft>
                <a:spcPts val="400"/>
              </a:spcAft>
              <a:defRPr sz="1200">
                <a:solidFill>
                  <a:srgbClr val="94A3B8"/>
                </a:solidFill>
              </a:defRPr>
            </a:pPr>
            <a:r>
              <a:rPr sz="1500" dirty="0"/>
              <a:t>Separates confidentiality &amp; integrity.</a:t>
            </a:r>
          </a:p>
        </p:txBody>
      </p:sp>
      <p:sp>
        <p:nvSpPr>
          <p:cNvPr id="13" name="Rounded Rectangle 12"/>
          <p:cNvSpPr/>
          <p:nvPr/>
        </p:nvSpPr>
        <p:spPr>
          <a:xfrm>
            <a:off x="6217920" y="1645920"/>
            <a:ext cx="251460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828800"/>
            <a:ext cx="2057400" cy="338554"/>
          </a:xfrm>
          <a:prstGeom prst="rect">
            <a:avLst/>
          </a:prstGeom>
          <a:noFill/>
        </p:spPr>
        <p:txBody>
          <a:bodyPr wrap="square">
            <a:spAutoFit/>
          </a:bodyPr>
          <a:lstStyle/>
          <a:p>
            <a:pPr>
              <a:defRPr sz="1500" b="1">
                <a:solidFill>
                  <a:srgbClr val="38BDF8"/>
                </a:solidFill>
              </a:defRPr>
            </a:pPr>
            <a:r>
              <a:rPr sz="1600"/>
              <a:t>Confidentiality (AES)</a:t>
            </a:r>
          </a:p>
        </p:txBody>
      </p:sp>
      <p:sp>
        <p:nvSpPr>
          <p:cNvPr id="15" name="TextBox 14"/>
          <p:cNvSpPr txBox="1"/>
          <p:nvPr/>
        </p:nvSpPr>
        <p:spPr>
          <a:xfrm>
            <a:off x="6446520" y="2148840"/>
            <a:ext cx="2057400" cy="338554"/>
          </a:xfrm>
          <a:prstGeom prst="rect">
            <a:avLst/>
          </a:prstGeom>
          <a:noFill/>
        </p:spPr>
        <p:txBody>
          <a:bodyPr wrap="square">
            <a:spAutoFit/>
          </a:bodyPr>
          <a:lstStyle/>
          <a:p>
            <a:pPr>
              <a:defRPr sz="1100">
                <a:solidFill>
                  <a:srgbClr val="94A3B8"/>
                </a:solidFill>
              </a:defRPr>
            </a:pPr>
            <a:r>
              <a:rPr sz="1600"/>
              <a:t>AES-256-CBC + PKCS#7</a:t>
            </a:r>
          </a:p>
        </p:txBody>
      </p:sp>
      <p:sp>
        <p:nvSpPr>
          <p:cNvPr id="16" name="TextBox 15"/>
          <p:cNvSpPr txBox="1"/>
          <p:nvPr/>
        </p:nvSpPr>
        <p:spPr>
          <a:xfrm>
            <a:off x="6355080" y="3337562"/>
            <a:ext cx="2240280" cy="1810752"/>
          </a:xfrm>
          <a:prstGeom prst="rect">
            <a:avLst/>
          </a:prstGeom>
          <a:noFill/>
        </p:spPr>
        <p:txBody>
          <a:bodyPr wrap="square">
            <a:spAutoFit/>
          </a:bodyPr>
          <a:lstStyle/>
          <a:p>
            <a:pPr>
              <a:spcAft>
                <a:spcPts val="400"/>
              </a:spcAft>
              <a:defRPr sz="1200">
                <a:solidFill>
                  <a:srgbClr val="94A3B8"/>
                </a:solidFill>
              </a:defRPr>
            </a:pPr>
            <a:r>
              <a:rPr sz="1500" dirty="0"/>
              <a:t>Plaintext encrypted under </a:t>
            </a:r>
            <a:r>
              <a:rPr sz="1500" dirty="0" err="1"/>
              <a:t>K_enc</a:t>
            </a:r>
            <a:r>
              <a:rPr sz="1500" dirty="0"/>
              <a:t>.</a:t>
            </a:r>
          </a:p>
          <a:p>
            <a:pPr>
              <a:spcAft>
                <a:spcPts val="400"/>
              </a:spcAft>
              <a:defRPr sz="1200">
                <a:solidFill>
                  <a:srgbClr val="94A3B8"/>
                </a:solidFill>
              </a:defRPr>
            </a:pPr>
            <a:r>
              <a:rPr sz="1500" dirty="0"/>
              <a:t>Fresh 16-byte random IV per message.</a:t>
            </a:r>
          </a:p>
          <a:p>
            <a:pPr>
              <a:spcAft>
                <a:spcPts val="400"/>
              </a:spcAft>
              <a:defRPr sz="1200">
                <a:solidFill>
                  <a:srgbClr val="94A3B8"/>
                </a:solidFill>
              </a:defRPr>
            </a:pPr>
            <a:r>
              <a:rPr sz="1500" dirty="0"/>
              <a:t>Guarantees message confidentiality against intermediaries.</a:t>
            </a:r>
          </a:p>
        </p:txBody>
      </p:sp>
      <p:sp>
        <p:nvSpPr>
          <p:cNvPr id="17" name="Rounded Rectangle 16"/>
          <p:cNvSpPr/>
          <p:nvPr/>
        </p:nvSpPr>
        <p:spPr>
          <a:xfrm>
            <a:off x="8961120" y="1645920"/>
            <a:ext cx="251460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9720" y="1828800"/>
            <a:ext cx="2057400" cy="584775"/>
          </a:xfrm>
          <a:prstGeom prst="rect">
            <a:avLst/>
          </a:prstGeom>
          <a:noFill/>
        </p:spPr>
        <p:txBody>
          <a:bodyPr wrap="square">
            <a:spAutoFit/>
          </a:bodyPr>
          <a:lstStyle/>
          <a:p>
            <a:pPr>
              <a:defRPr sz="1500" b="1">
                <a:solidFill>
                  <a:srgbClr val="38BDF8"/>
                </a:solidFill>
              </a:defRPr>
            </a:pPr>
            <a:r>
              <a:rPr sz="1600"/>
              <a:t>Integrity &amp; Auth (HMAC)</a:t>
            </a:r>
          </a:p>
        </p:txBody>
      </p:sp>
      <p:sp>
        <p:nvSpPr>
          <p:cNvPr id="19" name="TextBox 18"/>
          <p:cNvSpPr txBox="1"/>
          <p:nvPr/>
        </p:nvSpPr>
        <p:spPr>
          <a:xfrm>
            <a:off x="9189720" y="2414310"/>
            <a:ext cx="2057400" cy="584775"/>
          </a:xfrm>
          <a:prstGeom prst="rect">
            <a:avLst/>
          </a:prstGeom>
          <a:noFill/>
        </p:spPr>
        <p:txBody>
          <a:bodyPr wrap="square">
            <a:spAutoFit/>
          </a:bodyPr>
          <a:lstStyle/>
          <a:p>
            <a:pPr>
              <a:defRPr sz="1100">
                <a:solidFill>
                  <a:srgbClr val="94A3B8"/>
                </a:solidFill>
              </a:defRPr>
            </a:pPr>
            <a:r>
              <a:rPr sz="1600" dirty="0"/>
              <a:t>HMAC-SHA256 (Encrypt-then-MAC)</a:t>
            </a:r>
          </a:p>
        </p:txBody>
      </p:sp>
      <p:sp>
        <p:nvSpPr>
          <p:cNvPr id="20" name="TextBox 19"/>
          <p:cNvSpPr txBox="1"/>
          <p:nvPr/>
        </p:nvSpPr>
        <p:spPr>
          <a:xfrm>
            <a:off x="9098280" y="3583368"/>
            <a:ext cx="2240280" cy="1579920"/>
          </a:xfrm>
          <a:prstGeom prst="rect">
            <a:avLst/>
          </a:prstGeom>
          <a:noFill/>
        </p:spPr>
        <p:txBody>
          <a:bodyPr wrap="square">
            <a:spAutoFit/>
          </a:bodyPr>
          <a:lstStyle/>
          <a:p>
            <a:pPr>
              <a:spcAft>
                <a:spcPts val="400"/>
              </a:spcAft>
              <a:defRPr sz="1200">
                <a:solidFill>
                  <a:srgbClr val="94A3B8"/>
                </a:solidFill>
              </a:defRPr>
            </a:pPr>
            <a:r>
              <a:rPr sz="1500" dirty="0"/>
              <a:t>Tag = HMAC(IV || Ciphertext || TS || Seq, </a:t>
            </a:r>
            <a:r>
              <a:rPr sz="1500" dirty="0" err="1"/>
              <a:t>K_mac</a:t>
            </a:r>
            <a:r>
              <a:rPr sz="1500" dirty="0"/>
              <a:t>).</a:t>
            </a:r>
          </a:p>
          <a:p>
            <a:pPr>
              <a:spcAft>
                <a:spcPts val="400"/>
              </a:spcAft>
              <a:defRPr sz="1200">
                <a:solidFill>
                  <a:srgbClr val="94A3B8"/>
                </a:solidFill>
              </a:defRPr>
            </a:pPr>
            <a:r>
              <a:rPr sz="1500" dirty="0"/>
              <a:t>Recipient verifies tag before decryption.</a:t>
            </a:r>
          </a:p>
          <a:p>
            <a:pPr>
              <a:spcAft>
                <a:spcPts val="400"/>
              </a:spcAft>
              <a:defRPr sz="1200">
                <a:solidFill>
                  <a:srgbClr val="94A3B8"/>
                </a:solidFill>
              </a:defRPr>
            </a:pPr>
            <a:r>
              <a:rPr sz="1500" dirty="0"/>
              <a:t>Rejects any altered bits.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SYSTEM DESIGN</a:t>
            </a:r>
          </a:p>
        </p:txBody>
      </p:sp>
      <p:sp>
        <p:nvSpPr>
          <p:cNvPr id="4" name="TextBox 3"/>
          <p:cNvSpPr txBox="1"/>
          <p:nvPr/>
        </p:nvSpPr>
        <p:spPr>
          <a:xfrm>
            <a:off x="731520" y="685800"/>
            <a:ext cx="10698480" cy="523220"/>
          </a:xfrm>
          <a:prstGeom prst="rect">
            <a:avLst/>
          </a:prstGeom>
          <a:noFill/>
        </p:spPr>
        <p:txBody>
          <a:bodyPr wrap="square">
            <a:spAutoFit/>
          </a:bodyPr>
          <a:lstStyle/>
          <a:p>
            <a:pPr>
              <a:defRPr sz="2400" b="1">
                <a:solidFill>
                  <a:srgbClr val="F8FAFC"/>
                </a:solidFill>
              </a:defRPr>
            </a:pPr>
            <a:r>
              <a:rPr sz="2800" dirty="0"/>
              <a:t>Step-by-Step Message Transmission Protocol</a:t>
            </a:r>
          </a:p>
        </p:txBody>
      </p:sp>
      <p:sp>
        <p:nvSpPr>
          <p:cNvPr id="5" name="Rounded Rectangle 4"/>
          <p:cNvSpPr/>
          <p:nvPr/>
        </p:nvSpPr>
        <p:spPr>
          <a:xfrm>
            <a:off x="731520" y="1645920"/>
            <a:ext cx="34290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71800" cy="323165"/>
          </a:xfrm>
          <a:prstGeom prst="rect">
            <a:avLst/>
          </a:prstGeom>
          <a:noFill/>
        </p:spPr>
        <p:txBody>
          <a:bodyPr wrap="square">
            <a:spAutoFit/>
          </a:bodyPr>
          <a:lstStyle/>
          <a:p>
            <a:pPr>
              <a:defRPr sz="1500" b="1">
                <a:solidFill>
                  <a:srgbClr val="38BDF8"/>
                </a:solidFill>
              </a:defRPr>
            </a:pPr>
            <a:r>
              <a:rPr dirty="0"/>
              <a:t>Step 1: Ephemeral Handshake</a:t>
            </a:r>
          </a:p>
        </p:txBody>
      </p:sp>
      <p:sp>
        <p:nvSpPr>
          <p:cNvPr id="7" name="TextBox 6"/>
          <p:cNvSpPr txBox="1"/>
          <p:nvPr/>
        </p:nvSpPr>
        <p:spPr>
          <a:xfrm>
            <a:off x="914400" y="2148840"/>
            <a:ext cx="3063240" cy="830997"/>
          </a:xfrm>
          <a:prstGeom prst="rect">
            <a:avLst/>
          </a:prstGeom>
          <a:noFill/>
        </p:spPr>
        <p:txBody>
          <a:bodyPr wrap="square">
            <a:spAutoFit/>
          </a:bodyPr>
          <a:lstStyle/>
          <a:p>
            <a:pPr>
              <a:defRPr sz="1250">
                <a:solidFill>
                  <a:srgbClr val="94A3B8"/>
                </a:solidFill>
              </a:defRPr>
            </a:pPr>
            <a:r>
              <a:rPr sz="1600"/>
              <a:t>Alice &amp; Bob exchange public values A and B via relay; verify RSA signatures to prevent MITM.</a:t>
            </a:r>
          </a:p>
        </p:txBody>
      </p:sp>
      <p:sp>
        <p:nvSpPr>
          <p:cNvPr id="8" name="Rounded Rectangle 7"/>
          <p:cNvSpPr/>
          <p:nvPr/>
        </p:nvSpPr>
        <p:spPr>
          <a:xfrm>
            <a:off x="4389120" y="1645920"/>
            <a:ext cx="34290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1828800"/>
            <a:ext cx="2971800" cy="323165"/>
          </a:xfrm>
          <a:prstGeom prst="rect">
            <a:avLst/>
          </a:prstGeom>
          <a:noFill/>
        </p:spPr>
        <p:txBody>
          <a:bodyPr wrap="square">
            <a:spAutoFit/>
          </a:bodyPr>
          <a:lstStyle/>
          <a:p>
            <a:pPr>
              <a:defRPr sz="1500" b="1">
                <a:solidFill>
                  <a:srgbClr val="38BDF8"/>
                </a:solidFill>
              </a:defRPr>
            </a:pPr>
            <a:r>
              <a:t>Step 2: Key Derivation</a:t>
            </a:r>
          </a:p>
        </p:txBody>
      </p:sp>
      <p:sp>
        <p:nvSpPr>
          <p:cNvPr id="10" name="TextBox 9"/>
          <p:cNvSpPr txBox="1"/>
          <p:nvPr/>
        </p:nvSpPr>
        <p:spPr>
          <a:xfrm>
            <a:off x="4572000" y="2148840"/>
            <a:ext cx="3063240" cy="1077218"/>
          </a:xfrm>
          <a:prstGeom prst="rect">
            <a:avLst/>
          </a:prstGeom>
          <a:noFill/>
        </p:spPr>
        <p:txBody>
          <a:bodyPr wrap="square">
            <a:spAutoFit/>
          </a:bodyPr>
          <a:lstStyle/>
          <a:p>
            <a:pPr>
              <a:defRPr sz="1250">
                <a:solidFill>
                  <a:srgbClr val="94A3B8"/>
                </a:solidFill>
              </a:defRPr>
            </a:pPr>
            <a:r>
              <a:rPr sz="1600"/>
              <a:t>Both compute identical shared secret S = g^(ab) mod p, then derive AES Key (K_enc) and HMAC Key (K_mac).</a:t>
            </a:r>
          </a:p>
        </p:txBody>
      </p:sp>
      <p:sp>
        <p:nvSpPr>
          <p:cNvPr id="11" name="Rounded Rectangle 10"/>
          <p:cNvSpPr/>
          <p:nvPr/>
        </p:nvSpPr>
        <p:spPr>
          <a:xfrm>
            <a:off x="8046720" y="1645920"/>
            <a:ext cx="34290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75320" y="1828800"/>
            <a:ext cx="2971800" cy="323165"/>
          </a:xfrm>
          <a:prstGeom prst="rect">
            <a:avLst/>
          </a:prstGeom>
          <a:noFill/>
        </p:spPr>
        <p:txBody>
          <a:bodyPr wrap="square">
            <a:spAutoFit/>
          </a:bodyPr>
          <a:lstStyle/>
          <a:p>
            <a:pPr>
              <a:defRPr sz="1500" b="1">
                <a:solidFill>
                  <a:srgbClr val="38BDF8"/>
                </a:solidFill>
              </a:defRPr>
            </a:pPr>
            <a:r>
              <a:t>Step 3: Encrypt-then-MAC</a:t>
            </a:r>
          </a:p>
        </p:txBody>
      </p:sp>
      <p:sp>
        <p:nvSpPr>
          <p:cNvPr id="13" name="TextBox 12"/>
          <p:cNvSpPr txBox="1"/>
          <p:nvPr/>
        </p:nvSpPr>
        <p:spPr>
          <a:xfrm>
            <a:off x="8229600" y="2148840"/>
            <a:ext cx="3063240" cy="1077218"/>
          </a:xfrm>
          <a:prstGeom prst="rect">
            <a:avLst/>
          </a:prstGeom>
          <a:noFill/>
        </p:spPr>
        <p:txBody>
          <a:bodyPr wrap="square">
            <a:spAutoFit/>
          </a:bodyPr>
          <a:lstStyle/>
          <a:p>
            <a:pPr>
              <a:defRPr sz="1250">
                <a:solidFill>
                  <a:srgbClr val="94A3B8"/>
                </a:solidFill>
              </a:defRPr>
            </a:pPr>
            <a:r>
              <a:rPr sz="1600"/>
              <a:t>Alice encrypts plaintext with AES-256-CBC (fresh IV), generates timestamp &amp; seq#, computes HMAC-SHA256 tag.</a:t>
            </a:r>
          </a:p>
        </p:txBody>
      </p:sp>
      <p:sp>
        <p:nvSpPr>
          <p:cNvPr id="14" name="Rounded Rectangle 13"/>
          <p:cNvSpPr/>
          <p:nvPr/>
        </p:nvSpPr>
        <p:spPr>
          <a:xfrm>
            <a:off x="731520" y="4023360"/>
            <a:ext cx="34290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206240"/>
            <a:ext cx="2971800" cy="323165"/>
          </a:xfrm>
          <a:prstGeom prst="rect">
            <a:avLst/>
          </a:prstGeom>
          <a:noFill/>
        </p:spPr>
        <p:txBody>
          <a:bodyPr wrap="square">
            <a:spAutoFit/>
          </a:bodyPr>
          <a:lstStyle/>
          <a:p>
            <a:pPr>
              <a:defRPr sz="1500" b="1">
                <a:solidFill>
                  <a:srgbClr val="38BDF8"/>
                </a:solidFill>
              </a:defRPr>
            </a:pPr>
            <a:r>
              <a:t>Step 4: Untrusted Relay</a:t>
            </a:r>
          </a:p>
        </p:txBody>
      </p:sp>
      <p:sp>
        <p:nvSpPr>
          <p:cNvPr id="16" name="TextBox 15"/>
          <p:cNvSpPr txBox="1"/>
          <p:nvPr/>
        </p:nvSpPr>
        <p:spPr>
          <a:xfrm>
            <a:off x="914400" y="4526280"/>
            <a:ext cx="3063240" cy="1077218"/>
          </a:xfrm>
          <a:prstGeom prst="rect">
            <a:avLst/>
          </a:prstGeom>
          <a:noFill/>
        </p:spPr>
        <p:txBody>
          <a:bodyPr wrap="square">
            <a:spAutoFit/>
          </a:bodyPr>
          <a:lstStyle/>
          <a:p>
            <a:pPr>
              <a:defRPr sz="1250">
                <a:solidFill>
                  <a:srgbClr val="94A3B8"/>
                </a:solidFill>
              </a:defRPr>
            </a:pPr>
            <a:r>
              <a:rPr sz="1600"/>
              <a:t>Server receives {sender, receiver, IV, Ciphertext, Tag, TS, Seq#}. Server checks replay filter and queues payload.</a:t>
            </a:r>
          </a:p>
        </p:txBody>
      </p:sp>
      <p:sp>
        <p:nvSpPr>
          <p:cNvPr id="17" name="Rounded Rectangle 16"/>
          <p:cNvSpPr/>
          <p:nvPr/>
        </p:nvSpPr>
        <p:spPr>
          <a:xfrm>
            <a:off x="4389120" y="4023360"/>
            <a:ext cx="34290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4206240"/>
            <a:ext cx="2971800" cy="323165"/>
          </a:xfrm>
          <a:prstGeom prst="rect">
            <a:avLst/>
          </a:prstGeom>
          <a:noFill/>
        </p:spPr>
        <p:txBody>
          <a:bodyPr wrap="square">
            <a:spAutoFit/>
          </a:bodyPr>
          <a:lstStyle/>
          <a:p>
            <a:pPr>
              <a:defRPr sz="1500" b="1">
                <a:solidFill>
                  <a:srgbClr val="38BDF8"/>
                </a:solidFill>
              </a:defRPr>
            </a:pPr>
            <a:r>
              <a:t>Step 5: Integrity Verification</a:t>
            </a:r>
          </a:p>
        </p:txBody>
      </p:sp>
      <p:sp>
        <p:nvSpPr>
          <p:cNvPr id="19" name="TextBox 18"/>
          <p:cNvSpPr txBox="1"/>
          <p:nvPr/>
        </p:nvSpPr>
        <p:spPr>
          <a:xfrm>
            <a:off x="4572000" y="4526280"/>
            <a:ext cx="3063240" cy="1077218"/>
          </a:xfrm>
          <a:prstGeom prst="rect">
            <a:avLst/>
          </a:prstGeom>
          <a:noFill/>
        </p:spPr>
        <p:txBody>
          <a:bodyPr wrap="square">
            <a:spAutoFit/>
          </a:bodyPr>
          <a:lstStyle/>
          <a:p>
            <a:pPr>
              <a:defRPr sz="1250">
                <a:solidFill>
                  <a:srgbClr val="94A3B8"/>
                </a:solidFill>
              </a:defRPr>
            </a:pPr>
            <a:r>
              <a:rPr sz="1600"/>
              <a:t>Bob recomputes HMAC over received ciphertext &amp; metadata. If tag does NOT match, message is immediately rejected.</a:t>
            </a:r>
          </a:p>
        </p:txBody>
      </p:sp>
      <p:sp>
        <p:nvSpPr>
          <p:cNvPr id="20" name="Rounded Rectangle 19"/>
          <p:cNvSpPr/>
          <p:nvPr/>
        </p:nvSpPr>
        <p:spPr>
          <a:xfrm>
            <a:off x="8046720" y="4023360"/>
            <a:ext cx="34290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5320" y="4206240"/>
            <a:ext cx="2971800" cy="323165"/>
          </a:xfrm>
          <a:prstGeom prst="rect">
            <a:avLst/>
          </a:prstGeom>
          <a:noFill/>
        </p:spPr>
        <p:txBody>
          <a:bodyPr wrap="square">
            <a:spAutoFit/>
          </a:bodyPr>
          <a:lstStyle/>
          <a:p>
            <a:pPr>
              <a:defRPr sz="1500" b="1">
                <a:solidFill>
                  <a:srgbClr val="38BDF8"/>
                </a:solidFill>
              </a:defRPr>
            </a:pPr>
            <a:r>
              <a:t>Step 6: Plaintext Recovery</a:t>
            </a:r>
          </a:p>
        </p:txBody>
      </p:sp>
      <p:sp>
        <p:nvSpPr>
          <p:cNvPr id="22" name="TextBox 21"/>
          <p:cNvSpPr txBox="1"/>
          <p:nvPr/>
        </p:nvSpPr>
        <p:spPr>
          <a:xfrm>
            <a:off x="8229600" y="4526280"/>
            <a:ext cx="3063240" cy="1077218"/>
          </a:xfrm>
          <a:prstGeom prst="rect">
            <a:avLst/>
          </a:prstGeom>
          <a:noFill/>
        </p:spPr>
        <p:txBody>
          <a:bodyPr wrap="square">
            <a:spAutoFit/>
          </a:bodyPr>
          <a:lstStyle/>
          <a:p>
            <a:pPr>
              <a:defRPr sz="1250">
                <a:solidFill>
                  <a:srgbClr val="94A3B8"/>
                </a:solidFill>
              </a:defRPr>
            </a:pPr>
            <a:r>
              <a:rPr sz="1600"/>
              <a:t>Once integrity is confirmed, Bob checks sequence freshness and decrypts ciphertext using AES-256-CBC.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SYSTEM DESIGN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Design Mapping: Attacks vs Proposed Defenses</a:t>
            </a:r>
          </a:p>
        </p:txBody>
      </p:sp>
      <p:graphicFrame>
        <p:nvGraphicFramePr>
          <p:cNvPr id="5" name="Table 4"/>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762000">
                <a:tc>
                  <a:txBody>
                    <a:bodyPr/>
                    <a:lstStyle/>
                    <a:p>
                      <a:pPr>
                        <a:defRPr sz="1200" b="1">
                          <a:solidFill>
                            <a:srgbClr val="38BDF8"/>
                          </a:solidFill>
                        </a:defRPr>
                      </a:pPr>
                      <a:r>
                        <a:t>Attack Vector</a:t>
                      </a:r>
                    </a:p>
                  </a:txBody>
                  <a:tcPr>
                    <a:solidFill>
                      <a:srgbClr val="0C4A6E"/>
                    </a:solidFill>
                  </a:tcPr>
                </a:tc>
                <a:tc>
                  <a:txBody>
                    <a:bodyPr/>
                    <a:lstStyle/>
                    <a:p>
                      <a:pPr>
                        <a:defRPr sz="1200" b="1">
                          <a:solidFill>
                            <a:srgbClr val="38BDF8"/>
                          </a:solidFill>
                        </a:defRPr>
                      </a:pPr>
                      <a:r>
                        <a:t>Vulnerability Cause</a:t>
                      </a:r>
                    </a:p>
                  </a:txBody>
                  <a:tcPr>
                    <a:solidFill>
                      <a:srgbClr val="0C4A6E"/>
                    </a:solidFill>
                  </a:tcPr>
                </a:tc>
                <a:tc>
                  <a:txBody>
                    <a:bodyPr/>
                    <a:lstStyle/>
                    <a:p>
                      <a:pPr>
                        <a:defRPr sz="1200" b="1">
                          <a:solidFill>
                            <a:srgbClr val="38BDF8"/>
                          </a:solidFill>
                        </a:defRPr>
                      </a:pPr>
                      <a:r>
                        <a:t>Proposed Cryptographic Defense</a:t>
                      </a:r>
                    </a:p>
                  </a:txBody>
                  <a:tcPr>
                    <a:solidFill>
                      <a:srgbClr val="0C4A6E"/>
                    </a:solidFill>
                  </a:tcPr>
                </a:tc>
                <a:tc>
                  <a:txBody>
                    <a:bodyPr/>
                    <a:lstStyle/>
                    <a:p>
                      <a:pPr>
                        <a:defRPr sz="1200" b="1">
                          <a:solidFill>
                            <a:srgbClr val="38BDF8"/>
                          </a:solidFill>
                        </a:defRPr>
                      </a:pPr>
                      <a:r>
                        <a:t>Expected Security Guarantee</a:t>
                      </a:r>
                    </a:p>
                  </a:txBody>
                  <a:tcPr>
                    <a:solidFill>
                      <a:srgbClr val="0C4A6E"/>
                    </a:solidFill>
                  </a:tcPr>
                </a:tc>
                <a:extLst>
                  <a:ext uri="{0D108BD9-81ED-4DB2-BD59-A6C34878D82A}">
                    <a16:rowId xmlns:a16="http://schemas.microsoft.com/office/drawing/2014/main" val="10000"/>
                  </a:ext>
                </a:extLst>
              </a:tr>
              <a:tr h="762000">
                <a:tc>
                  <a:txBody>
                    <a:bodyPr/>
                    <a:lstStyle/>
                    <a:p>
                      <a:pPr>
                        <a:defRPr sz="1150" b="1">
                          <a:solidFill>
                            <a:srgbClr val="94A3B8"/>
                          </a:solidFill>
                        </a:defRPr>
                      </a:pPr>
                      <a:r>
                        <a:t>Eavesdropping</a:t>
                      </a:r>
                    </a:p>
                  </a:txBody>
                  <a:tcPr>
                    <a:solidFill>
                      <a:srgbClr val="182234"/>
                    </a:solidFill>
                  </a:tcPr>
                </a:tc>
                <a:tc>
                  <a:txBody>
                    <a:bodyPr/>
                    <a:lstStyle/>
                    <a:p>
                      <a:pPr>
                        <a:defRPr sz="1150" b="0">
                          <a:solidFill>
                            <a:srgbClr val="94A3B8"/>
                          </a:solidFill>
                        </a:defRPr>
                      </a:pPr>
                      <a:r>
                        <a:t>Plaintext transmission over network</a:t>
                      </a:r>
                    </a:p>
                  </a:txBody>
                  <a:tcPr>
                    <a:solidFill>
                      <a:srgbClr val="182234"/>
                    </a:solidFill>
                  </a:tcPr>
                </a:tc>
                <a:tc>
                  <a:txBody>
                    <a:bodyPr/>
                    <a:lstStyle/>
                    <a:p>
                      <a:pPr>
                        <a:defRPr sz="1150" b="0">
                          <a:solidFill>
                            <a:srgbClr val="F8FAFC"/>
                          </a:solidFill>
                        </a:defRPr>
                      </a:pPr>
                      <a:r>
                        <a:t>Dual-Layer: TLS 1.3 (Transport) + AES-256-CBC (E2EE)</a:t>
                      </a:r>
                    </a:p>
                  </a:txBody>
                  <a:tcPr>
                    <a:solidFill>
                      <a:srgbClr val="182234"/>
                    </a:solidFill>
                  </a:tcPr>
                </a:tc>
                <a:tc>
                  <a:txBody>
                    <a:bodyPr/>
                    <a:lstStyle/>
                    <a:p>
                      <a:pPr>
                        <a:defRPr sz="1150" b="0">
                          <a:solidFill>
                            <a:srgbClr val="94A3B8"/>
                          </a:solidFill>
                        </a:defRPr>
                      </a:pPr>
                      <a:r>
                        <a:t>Zero plaintext leakage to network sniffers or relay server</a:t>
                      </a:r>
                    </a:p>
                  </a:txBody>
                  <a:tcPr>
                    <a:solidFill>
                      <a:srgbClr val="182234"/>
                    </a:solidFill>
                  </a:tcPr>
                </a:tc>
                <a:extLst>
                  <a:ext uri="{0D108BD9-81ED-4DB2-BD59-A6C34878D82A}">
                    <a16:rowId xmlns:a16="http://schemas.microsoft.com/office/drawing/2014/main" val="10001"/>
                  </a:ext>
                </a:extLst>
              </a:tr>
              <a:tr h="762000">
                <a:tc>
                  <a:txBody>
                    <a:bodyPr/>
                    <a:lstStyle/>
                    <a:p>
                      <a:pPr>
                        <a:defRPr sz="1150" b="1">
                          <a:solidFill>
                            <a:srgbClr val="94A3B8"/>
                          </a:solidFill>
                        </a:defRPr>
                      </a:pPr>
                      <a:r>
                        <a:t>Message Tampering</a:t>
                      </a:r>
                    </a:p>
                  </a:txBody>
                  <a:tcPr>
                    <a:solidFill>
                      <a:srgbClr val="1E293B"/>
                    </a:solidFill>
                  </a:tcPr>
                </a:tc>
                <a:tc>
                  <a:txBody>
                    <a:bodyPr/>
                    <a:lstStyle/>
                    <a:p>
                      <a:pPr>
                        <a:defRPr sz="1150" b="0">
                          <a:solidFill>
                            <a:srgbClr val="94A3B8"/>
                          </a:solidFill>
                        </a:defRPr>
                      </a:pPr>
                      <a:r>
                        <a:t>Adversary alters bits in transit</a:t>
                      </a:r>
                    </a:p>
                  </a:txBody>
                  <a:tcPr>
                    <a:solidFill>
                      <a:srgbClr val="1E293B"/>
                    </a:solidFill>
                  </a:tcPr>
                </a:tc>
                <a:tc>
                  <a:txBody>
                    <a:bodyPr/>
                    <a:lstStyle/>
                    <a:p>
                      <a:pPr>
                        <a:defRPr sz="1150" b="0">
                          <a:solidFill>
                            <a:srgbClr val="F8FAFC"/>
                          </a:solidFill>
                        </a:defRPr>
                      </a:pPr>
                      <a:r>
                        <a:t>HMAC-SHA256 with Encrypt-then-MAC &amp; constant-time check</a:t>
                      </a:r>
                    </a:p>
                  </a:txBody>
                  <a:tcPr>
                    <a:solidFill>
                      <a:srgbClr val="1E293B"/>
                    </a:solidFill>
                  </a:tcPr>
                </a:tc>
                <a:tc>
                  <a:txBody>
                    <a:bodyPr/>
                    <a:lstStyle/>
                    <a:p>
                      <a:pPr>
                        <a:defRPr sz="1150" b="0">
                          <a:solidFill>
                            <a:srgbClr val="94A3B8"/>
                          </a:solidFill>
                        </a:defRPr>
                      </a:pPr>
                      <a:r>
                        <a:t>Altered ciphertext causes tag mismatch; discarded before decrypt</a:t>
                      </a:r>
                    </a:p>
                  </a:txBody>
                  <a:tcPr>
                    <a:solidFill>
                      <a:srgbClr val="1E293B"/>
                    </a:solidFill>
                  </a:tcPr>
                </a:tc>
                <a:extLst>
                  <a:ext uri="{0D108BD9-81ED-4DB2-BD59-A6C34878D82A}">
                    <a16:rowId xmlns:a16="http://schemas.microsoft.com/office/drawing/2014/main" val="10002"/>
                  </a:ext>
                </a:extLst>
              </a:tr>
              <a:tr h="762000">
                <a:tc>
                  <a:txBody>
                    <a:bodyPr/>
                    <a:lstStyle/>
                    <a:p>
                      <a:pPr>
                        <a:defRPr sz="1150" b="1">
                          <a:solidFill>
                            <a:srgbClr val="94A3B8"/>
                          </a:solidFill>
                        </a:defRPr>
                      </a:pPr>
                      <a:r>
                        <a:t>Replay Attack</a:t>
                      </a:r>
                    </a:p>
                  </a:txBody>
                  <a:tcPr>
                    <a:solidFill>
                      <a:srgbClr val="182234"/>
                    </a:solidFill>
                  </a:tcPr>
                </a:tc>
                <a:tc>
                  <a:txBody>
                    <a:bodyPr/>
                    <a:lstStyle/>
                    <a:p>
                      <a:pPr>
                        <a:defRPr sz="1150" b="0">
                          <a:solidFill>
                            <a:srgbClr val="94A3B8"/>
                          </a:solidFill>
                        </a:defRPr>
                      </a:pPr>
                      <a:r>
                        <a:t>Retransmission of valid intercepted packet</a:t>
                      </a:r>
                    </a:p>
                  </a:txBody>
                  <a:tcPr>
                    <a:solidFill>
                      <a:srgbClr val="182234"/>
                    </a:solidFill>
                  </a:tcPr>
                </a:tc>
                <a:tc>
                  <a:txBody>
                    <a:bodyPr/>
                    <a:lstStyle/>
                    <a:p>
                      <a:pPr>
                        <a:defRPr sz="1150" b="0">
                          <a:solidFill>
                            <a:srgbClr val="F8FAFC"/>
                          </a:solidFill>
                        </a:defRPr>
                      </a:pPr>
                      <a:r>
                        <a:t>Unique UUID message_id, monotonic seq#, and ISO timestamp</a:t>
                      </a:r>
                    </a:p>
                  </a:txBody>
                  <a:tcPr>
                    <a:solidFill>
                      <a:srgbClr val="182234"/>
                    </a:solidFill>
                  </a:tcPr>
                </a:tc>
                <a:tc>
                  <a:txBody>
                    <a:bodyPr/>
                    <a:lstStyle/>
                    <a:p>
                      <a:pPr>
                        <a:defRPr sz="1150" b="0">
                          <a:solidFill>
                            <a:srgbClr val="94A3B8"/>
                          </a:solidFill>
                        </a:defRPr>
                      </a:pPr>
                      <a:r>
                        <a:t>Duplicate packet IDs rejected by server &amp; client filters (HTTP 409)</a:t>
                      </a:r>
                    </a:p>
                  </a:txBody>
                  <a:tcPr>
                    <a:solidFill>
                      <a:srgbClr val="182234"/>
                    </a:solidFill>
                  </a:tcPr>
                </a:tc>
                <a:extLst>
                  <a:ext uri="{0D108BD9-81ED-4DB2-BD59-A6C34878D82A}">
                    <a16:rowId xmlns:a16="http://schemas.microsoft.com/office/drawing/2014/main" val="10003"/>
                  </a:ext>
                </a:extLst>
              </a:tr>
              <a:tr h="762000">
                <a:tc>
                  <a:txBody>
                    <a:bodyPr/>
                    <a:lstStyle/>
                    <a:p>
                      <a:pPr>
                        <a:defRPr sz="1150" b="1">
                          <a:solidFill>
                            <a:srgbClr val="94A3B8"/>
                          </a:solidFill>
                        </a:defRPr>
                      </a:pPr>
                      <a:r>
                        <a:t>DH Man-in-the-Middle</a:t>
                      </a:r>
                    </a:p>
                  </a:txBody>
                  <a:tcPr>
                    <a:solidFill>
                      <a:srgbClr val="1E293B"/>
                    </a:solidFill>
                  </a:tcPr>
                </a:tc>
                <a:tc>
                  <a:txBody>
                    <a:bodyPr/>
                    <a:lstStyle/>
                    <a:p>
                      <a:pPr>
                        <a:defRPr sz="1150" b="0">
                          <a:solidFill>
                            <a:srgbClr val="94A3B8"/>
                          </a:solidFill>
                        </a:defRPr>
                      </a:pPr>
                      <a:r>
                        <a:t>Unauthenticated public parameter exchange</a:t>
                      </a:r>
                    </a:p>
                  </a:txBody>
                  <a:tcPr>
                    <a:solidFill>
                      <a:srgbClr val="1E293B"/>
                    </a:solidFill>
                  </a:tcPr>
                </a:tc>
                <a:tc>
                  <a:txBody>
                    <a:bodyPr/>
                    <a:lstStyle/>
                    <a:p>
                      <a:pPr>
                        <a:defRPr sz="1150" b="0">
                          <a:solidFill>
                            <a:srgbClr val="F8FAFC"/>
                          </a:solidFill>
                        </a:defRPr>
                      </a:pPr>
                      <a:r>
                        <a:t>RSA-2048 PSS Digital Signatures on public DH parameters</a:t>
                      </a:r>
                    </a:p>
                  </a:txBody>
                  <a:tcPr>
                    <a:solidFill>
                      <a:srgbClr val="1E293B"/>
                    </a:solidFill>
                  </a:tcPr>
                </a:tc>
                <a:tc>
                  <a:txBody>
                    <a:bodyPr/>
                    <a:lstStyle/>
                    <a:p>
                      <a:pPr>
                        <a:defRPr sz="1150" b="0">
                          <a:solidFill>
                            <a:srgbClr val="94A3B8"/>
                          </a:solidFill>
                        </a:defRPr>
                      </a:pPr>
                      <a:r>
                        <a:t>Forged public keys fail signature check; connection aborted</a:t>
                      </a:r>
                    </a:p>
                  </a:txBody>
                  <a:tcPr>
                    <a:solidFill>
                      <a:srgbClr val="1E293B"/>
                    </a:solidFill>
                  </a:tcPr>
                </a:tc>
                <a:extLst>
                  <a:ext uri="{0D108BD9-81ED-4DB2-BD59-A6C34878D82A}">
                    <a16:rowId xmlns:a16="http://schemas.microsoft.com/office/drawing/2014/main" val="10004"/>
                  </a:ext>
                </a:extLst>
              </a:tr>
              <a:tr h="762000">
                <a:tc>
                  <a:txBody>
                    <a:bodyPr/>
                    <a:lstStyle/>
                    <a:p>
                      <a:pPr>
                        <a:defRPr sz="1150" b="1">
                          <a:solidFill>
                            <a:srgbClr val="94A3B8"/>
                          </a:solidFill>
                        </a:defRPr>
                      </a:pPr>
                      <a:r>
                        <a:t>Credential Leaks</a:t>
                      </a:r>
                    </a:p>
                  </a:txBody>
                  <a:tcPr>
                    <a:solidFill>
                      <a:srgbClr val="182234"/>
                    </a:solidFill>
                  </a:tcPr>
                </a:tc>
                <a:tc>
                  <a:txBody>
                    <a:bodyPr/>
                    <a:lstStyle/>
                    <a:p>
                      <a:pPr>
                        <a:defRPr sz="1150" b="0">
                          <a:solidFill>
                            <a:srgbClr val="94A3B8"/>
                          </a:solidFill>
                        </a:defRPr>
                      </a:pPr>
                      <a:r>
                        <a:t>Plaintext or reversible password storage</a:t>
                      </a:r>
                    </a:p>
                  </a:txBody>
                  <a:tcPr>
                    <a:solidFill>
                      <a:srgbClr val="182234"/>
                    </a:solidFill>
                  </a:tcPr>
                </a:tc>
                <a:tc>
                  <a:txBody>
                    <a:bodyPr/>
                    <a:lstStyle/>
                    <a:p>
                      <a:pPr>
                        <a:defRPr sz="1150" b="0">
                          <a:solidFill>
                            <a:srgbClr val="F8FAFC"/>
                          </a:solidFill>
                        </a:defRPr>
                      </a:pPr>
                      <a:r>
                        <a:t>PBKDF2-HMAC-SHA256 (100k rounds) with random 16B salt</a:t>
                      </a:r>
                    </a:p>
                  </a:txBody>
                  <a:tcPr>
                    <a:solidFill>
                      <a:srgbClr val="182234"/>
                    </a:solidFill>
                  </a:tcPr>
                </a:tc>
                <a:tc>
                  <a:txBody>
                    <a:bodyPr/>
                    <a:lstStyle/>
                    <a:p>
                      <a:pPr>
                        <a:defRPr sz="1150" b="0">
                          <a:solidFill>
                            <a:srgbClr val="94A3B8"/>
                          </a:solidFill>
                        </a:defRPr>
                      </a:pPr>
                      <a:r>
                        <a:t>Resistant to rainbow table and GPU dictionary attacks</a:t>
                      </a:r>
                    </a:p>
                  </a:txBody>
                  <a:tcPr>
                    <a:solidFill>
                      <a:srgbClr val="182234"/>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IMPLEMENTATION PLANNING</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Implementation Planning: Work Breakdown Structure</a:t>
            </a:r>
          </a:p>
        </p:txBody>
      </p:sp>
      <p:sp>
        <p:nvSpPr>
          <p:cNvPr id="5" name="Rounded Rectangle 4"/>
          <p:cNvSpPr/>
          <p:nvPr/>
        </p:nvSpPr>
        <p:spPr>
          <a:xfrm>
            <a:off x="7315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26080" cy="365760"/>
          </a:xfrm>
          <a:prstGeom prst="rect">
            <a:avLst/>
          </a:prstGeom>
          <a:noFill/>
        </p:spPr>
        <p:txBody>
          <a:bodyPr wrap="square">
            <a:spAutoFit/>
          </a:bodyPr>
          <a:lstStyle/>
          <a:p>
            <a:pPr>
              <a:defRPr sz="1500" b="1">
                <a:solidFill>
                  <a:srgbClr val="38BDF8"/>
                </a:solidFill>
              </a:defRPr>
            </a:pPr>
            <a:r>
              <a:t>Phase 1: Crypto Engine Design</a:t>
            </a:r>
          </a:p>
        </p:txBody>
      </p:sp>
      <p:sp>
        <p:nvSpPr>
          <p:cNvPr id="7" name="TextBox 6"/>
          <p:cNvSpPr txBox="1"/>
          <p:nvPr/>
        </p:nvSpPr>
        <p:spPr>
          <a:xfrm>
            <a:off x="960120" y="2148840"/>
            <a:ext cx="2926080" cy="274320"/>
          </a:xfrm>
          <a:prstGeom prst="rect">
            <a:avLst/>
          </a:prstGeom>
          <a:noFill/>
        </p:spPr>
        <p:txBody>
          <a:bodyPr wrap="square">
            <a:spAutoFit/>
          </a:bodyPr>
          <a:lstStyle/>
          <a:p>
            <a:pPr>
              <a:defRPr sz="1100">
                <a:solidFill>
                  <a:srgbClr val="94A3B8"/>
                </a:solidFill>
              </a:defRPr>
            </a:pPr>
            <a:r>
              <a:t>Core Primitives</a:t>
            </a:r>
          </a:p>
        </p:txBody>
      </p:sp>
      <p:sp>
        <p:nvSpPr>
          <p:cNvPr id="8" name="TextBox 7"/>
          <p:cNvSpPr txBox="1"/>
          <p:nvPr/>
        </p:nvSpPr>
        <p:spPr>
          <a:xfrm>
            <a:off x="914400" y="2423160"/>
            <a:ext cx="3017520" cy="3291840"/>
          </a:xfrm>
          <a:prstGeom prst="rect">
            <a:avLst/>
          </a:prstGeom>
          <a:noFill/>
        </p:spPr>
        <p:txBody>
          <a:bodyPr wrap="square">
            <a:spAutoFit/>
          </a:bodyPr>
          <a:lstStyle/>
          <a:p>
            <a:pPr>
              <a:spcAft>
                <a:spcPts val="700"/>
              </a:spcAft>
              <a:defRPr sz="1200">
                <a:solidFill>
                  <a:srgbClr val="94A3B8"/>
                </a:solidFill>
              </a:defRPr>
            </a:pPr>
            <a:r>
              <a:t>• Specification of RFC 3526 MODP-2048 Diffie-Hellman algorithm.</a:t>
            </a:r>
          </a:p>
          <a:p>
            <a:pPr>
              <a:spcAft>
                <a:spcPts val="700"/>
              </a:spcAft>
              <a:defRPr sz="1200">
                <a:solidFill>
                  <a:srgbClr val="94A3B8"/>
                </a:solidFill>
              </a:defRPr>
            </a:pPr>
            <a:r>
              <a:t>• HKDF-SHA256 key separation logic (AES and HMAC keys).</a:t>
            </a:r>
          </a:p>
          <a:p>
            <a:pPr>
              <a:spcAft>
                <a:spcPts val="700"/>
              </a:spcAft>
              <a:defRPr sz="1200">
                <a:solidFill>
                  <a:srgbClr val="94A3B8"/>
                </a:solidFill>
              </a:defRPr>
            </a:pPr>
            <a:r>
              <a:t>• AES-256-CBC encryption/decryption module with PKCS#7 padding.</a:t>
            </a:r>
          </a:p>
          <a:p>
            <a:pPr>
              <a:spcAft>
                <a:spcPts val="700"/>
              </a:spcAft>
              <a:defRPr sz="1200">
                <a:solidFill>
                  <a:srgbClr val="94A3B8"/>
                </a:solidFill>
              </a:defRPr>
            </a:pPr>
            <a:r>
              <a:t>• HMAC-SHA256 generation and constant-time comparison logic.</a:t>
            </a:r>
          </a:p>
          <a:p>
            <a:pPr>
              <a:spcAft>
                <a:spcPts val="700"/>
              </a:spcAft>
              <a:defRPr sz="1200">
                <a:solidFill>
                  <a:srgbClr val="94A3B8"/>
                </a:solidFill>
              </a:defRPr>
            </a:pPr>
            <a:r>
              <a:t>• RSA-2048 PSS digital signature module for MITM prevention.</a:t>
            </a:r>
          </a:p>
        </p:txBody>
      </p:sp>
      <p:sp>
        <p:nvSpPr>
          <p:cNvPr id="9" name="Rounded Rectangle 8"/>
          <p:cNvSpPr/>
          <p:nvPr/>
        </p:nvSpPr>
        <p:spPr>
          <a:xfrm>
            <a:off x="43891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828800"/>
            <a:ext cx="2926080" cy="365760"/>
          </a:xfrm>
          <a:prstGeom prst="rect">
            <a:avLst/>
          </a:prstGeom>
          <a:noFill/>
        </p:spPr>
        <p:txBody>
          <a:bodyPr wrap="square">
            <a:spAutoFit/>
          </a:bodyPr>
          <a:lstStyle/>
          <a:p>
            <a:pPr>
              <a:defRPr sz="1500" b="1">
                <a:solidFill>
                  <a:srgbClr val="38BDF8"/>
                </a:solidFill>
              </a:defRPr>
            </a:pPr>
            <a:r>
              <a:t>Phase 2: Server &amp; Database Design</a:t>
            </a:r>
          </a:p>
        </p:txBody>
      </p:sp>
      <p:sp>
        <p:nvSpPr>
          <p:cNvPr id="11" name="TextBox 10"/>
          <p:cNvSpPr txBox="1"/>
          <p:nvPr/>
        </p:nvSpPr>
        <p:spPr>
          <a:xfrm>
            <a:off x="4617720" y="2148840"/>
            <a:ext cx="2926080" cy="274320"/>
          </a:xfrm>
          <a:prstGeom prst="rect">
            <a:avLst/>
          </a:prstGeom>
          <a:noFill/>
        </p:spPr>
        <p:txBody>
          <a:bodyPr wrap="square">
            <a:spAutoFit/>
          </a:bodyPr>
          <a:lstStyle/>
          <a:p>
            <a:pPr>
              <a:defRPr sz="1100">
                <a:solidFill>
                  <a:srgbClr val="94A3B8"/>
                </a:solidFill>
              </a:defRPr>
            </a:pPr>
            <a:r>
              <a:t>Backend Architecture</a:t>
            </a:r>
          </a:p>
        </p:txBody>
      </p:sp>
      <p:sp>
        <p:nvSpPr>
          <p:cNvPr id="12" name="TextBox 11"/>
          <p:cNvSpPr txBox="1"/>
          <p:nvPr/>
        </p:nvSpPr>
        <p:spPr>
          <a:xfrm>
            <a:off x="4572000" y="2423160"/>
            <a:ext cx="3017520" cy="3291840"/>
          </a:xfrm>
          <a:prstGeom prst="rect">
            <a:avLst/>
          </a:prstGeom>
          <a:noFill/>
        </p:spPr>
        <p:txBody>
          <a:bodyPr wrap="square">
            <a:spAutoFit/>
          </a:bodyPr>
          <a:lstStyle/>
          <a:p>
            <a:pPr>
              <a:spcAft>
                <a:spcPts val="700"/>
              </a:spcAft>
              <a:defRPr sz="1200">
                <a:solidFill>
                  <a:srgbClr val="94A3B8"/>
                </a:solidFill>
              </a:defRPr>
            </a:pPr>
            <a:r>
              <a:t>• Relational SQLite schema design (users, dh_sessions, messages).</a:t>
            </a:r>
          </a:p>
          <a:p>
            <a:pPr>
              <a:spcAft>
                <a:spcPts val="700"/>
              </a:spcAft>
              <a:defRPr sz="1200">
                <a:solidFill>
                  <a:srgbClr val="94A3B8"/>
                </a:solidFill>
              </a:defRPr>
            </a:pPr>
            <a:r>
              <a:t>• Authentication endpoints with PBKDF2-HMAC-SHA256 password hashing.</a:t>
            </a:r>
          </a:p>
          <a:p>
            <a:pPr>
              <a:spcAft>
                <a:spcPts val="700"/>
              </a:spcAft>
              <a:defRPr sz="1200">
                <a:solidFill>
                  <a:srgbClr val="94A3B8"/>
                </a:solidFill>
              </a:defRPr>
            </a:pPr>
            <a:r>
              <a:t>• Public DH parameter exchange coordination routes.</a:t>
            </a:r>
          </a:p>
          <a:p>
            <a:pPr>
              <a:spcAft>
                <a:spcPts val="700"/>
              </a:spcAft>
              <a:defRPr sz="1200">
                <a:solidFill>
                  <a:srgbClr val="94A3B8"/>
                </a:solidFill>
              </a:defRPr>
            </a:pPr>
            <a:r>
              <a:t>• Encrypted message queuing and anti-replay filter implementation.</a:t>
            </a:r>
          </a:p>
          <a:p>
            <a:pPr>
              <a:spcAft>
                <a:spcPts val="700"/>
              </a:spcAft>
              <a:defRPr sz="1200">
                <a:solidFill>
                  <a:srgbClr val="94A3B8"/>
                </a:solidFill>
              </a:defRPr>
            </a:pPr>
            <a:r>
              <a:t>• Zero-plaintext database design verification.</a:t>
            </a:r>
          </a:p>
        </p:txBody>
      </p:sp>
      <p:sp>
        <p:nvSpPr>
          <p:cNvPr id="13" name="Rounded Rectangle 12"/>
          <p:cNvSpPr/>
          <p:nvPr/>
        </p:nvSpPr>
        <p:spPr>
          <a:xfrm>
            <a:off x="80467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828800"/>
            <a:ext cx="2926080" cy="365760"/>
          </a:xfrm>
          <a:prstGeom prst="rect">
            <a:avLst/>
          </a:prstGeom>
          <a:noFill/>
        </p:spPr>
        <p:txBody>
          <a:bodyPr wrap="square">
            <a:spAutoFit/>
          </a:bodyPr>
          <a:lstStyle/>
          <a:p>
            <a:pPr>
              <a:defRPr sz="1500" b="1">
                <a:solidFill>
                  <a:srgbClr val="38BDF8"/>
                </a:solidFill>
              </a:defRPr>
            </a:pPr>
            <a:r>
              <a:t>Phase 3: Client &amp; UI Architecture</a:t>
            </a:r>
          </a:p>
        </p:txBody>
      </p:sp>
      <p:sp>
        <p:nvSpPr>
          <p:cNvPr id="15" name="TextBox 14"/>
          <p:cNvSpPr txBox="1"/>
          <p:nvPr/>
        </p:nvSpPr>
        <p:spPr>
          <a:xfrm>
            <a:off x="8275320" y="2148840"/>
            <a:ext cx="2926080" cy="274320"/>
          </a:xfrm>
          <a:prstGeom prst="rect">
            <a:avLst/>
          </a:prstGeom>
          <a:noFill/>
        </p:spPr>
        <p:txBody>
          <a:bodyPr wrap="square">
            <a:spAutoFit/>
          </a:bodyPr>
          <a:lstStyle/>
          <a:p>
            <a:pPr>
              <a:defRPr sz="1100">
                <a:solidFill>
                  <a:srgbClr val="94A3B8"/>
                </a:solidFill>
              </a:defRPr>
            </a:pPr>
            <a:r>
              <a:t>Client Application</a:t>
            </a:r>
          </a:p>
        </p:txBody>
      </p:sp>
      <p:sp>
        <p:nvSpPr>
          <p:cNvPr id="16" name="TextBox 15"/>
          <p:cNvSpPr txBox="1"/>
          <p:nvPr/>
        </p:nvSpPr>
        <p:spPr>
          <a:xfrm>
            <a:off x="8229600" y="2423160"/>
            <a:ext cx="3017520" cy="3291840"/>
          </a:xfrm>
          <a:prstGeom prst="rect">
            <a:avLst/>
          </a:prstGeom>
          <a:noFill/>
        </p:spPr>
        <p:txBody>
          <a:bodyPr wrap="square">
            <a:spAutoFit/>
          </a:bodyPr>
          <a:lstStyle/>
          <a:p>
            <a:pPr>
              <a:spcAft>
                <a:spcPts val="700"/>
              </a:spcAft>
              <a:defRPr sz="1200">
                <a:solidFill>
                  <a:srgbClr val="94A3B8"/>
                </a:solidFill>
              </a:defRPr>
            </a:pPr>
            <a:r>
              <a:t>• Client-side cryptographic manager for local key isolation.</a:t>
            </a:r>
          </a:p>
          <a:p>
            <a:pPr>
              <a:spcAft>
                <a:spcPts val="700"/>
              </a:spcAft>
              <a:defRPr sz="1200">
                <a:solidFill>
                  <a:srgbClr val="94A3B8"/>
                </a:solidFill>
              </a:defRPr>
            </a:pPr>
            <a:r>
              <a:t>• Dual-user communication interface (Alice and Bob simulation).</a:t>
            </a:r>
          </a:p>
          <a:p>
            <a:pPr>
              <a:spcAft>
                <a:spcPts val="700"/>
              </a:spcAft>
              <a:defRPr sz="1200">
                <a:solidFill>
                  <a:srgbClr val="94A3B8"/>
                </a:solidFill>
              </a:defRPr>
            </a:pPr>
            <a:r>
              <a:t>• Real-time Cryptographic Pipeline Inspector for viva/demo visibility.</a:t>
            </a:r>
          </a:p>
          <a:p>
            <a:pPr>
              <a:spcAft>
                <a:spcPts val="700"/>
              </a:spcAft>
              <a:defRPr sz="1200">
                <a:solidFill>
                  <a:srgbClr val="94A3B8"/>
                </a:solidFill>
              </a:defRPr>
            </a:pPr>
            <a:r>
              <a:t>• Simulated adversary controls (in-flight tampering injection).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IMPLEMENTATION PLANNING</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Planning: Security Verification &amp; Attack Evaluation Plan</a:t>
            </a:r>
          </a:p>
        </p:txBody>
      </p:sp>
      <p:sp>
        <p:nvSpPr>
          <p:cNvPr id="5" name="Rounded Rectangle 4"/>
          <p:cNvSpPr/>
          <p:nvPr/>
        </p:nvSpPr>
        <p:spPr>
          <a:xfrm>
            <a:off x="7315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26080" cy="365760"/>
          </a:xfrm>
          <a:prstGeom prst="rect">
            <a:avLst/>
          </a:prstGeom>
          <a:noFill/>
        </p:spPr>
        <p:txBody>
          <a:bodyPr wrap="square">
            <a:spAutoFit/>
          </a:bodyPr>
          <a:lstStyle/>
          <a:p>
            <a:pPr>
              <a:defRPr sz="1500" b="1">
                <a:solidFill>
                  <a:srgbClr val="38BDF8"/>
                </a:solidFill>
              </a:defRPr>
            </a:pPr>
            <a:r>
              <a:t>Cryptographic Correctness Plan</a:t>
            </a:r>
          </a:p>
        </p:txBody>
      </p:sp>
      <p:sp>
        <p:nvSpPr>
          <p:cNvPr id="7" name="TextBox 6"/>
          <p:cNvSpPr txBox="1"/>
          <p:nvPr/>
        </p:nvSpPr>
        <p:spPr>
          <a:xfrm>
            <a:off x="960120" y="2148840"/>
            <a:ext cx="2926080" cy="274320"/>
          </a:xfrm>
          <a:prstGeom prst="rect">
            <a:avLst/>
          </a:prstGeom>
          <a:noFill/>
        </p:spPr>
        <p:txBody>
          <a:bodyPr wrap="square">
            <a:spAutoFit/>
          </a:bodyPr>
          <a:lstStyle/>
          <a:p>
            <a:pPr>
              <a:defRPr sz="1100">
                <a:solidFill>
                  <a:srgbClr val="94A3B8"/>
                </a:solidFill>
              </a:defRPr>
            </a:pPr>
            <a:r>
              <a:t>Unit Testing Suite</a:t>
            </a:r>
          </a:p>
        </p:txBody>
      </p:sp>
      <p:sp>
        <p:nvSpPr>
          <p:cNvPr id="8" name="TextBox 7"/>
          <p:cNvSpPr txBox="1"/>
          <p:nvPr/>
        </p:nvSpPr>
        <p:spPr>
          <a:xfrm>
            <a:off x="914400" y="2423160"/>
            <a:ext cx="3017520" cy="3291840"/>
          </a:xfrm>
          <a:prstGeom prst="rect">
            <a:avLst/>
          </a:prstGeom>
          <a:noFill/>
        </p:spPr>
        <p:txBody>
          <a:bodyPr wrap="square">
            <a:spAutoFit/>
          </a:bodyPr>
          <a:lstStyle/>
          <a:p>
            <a:pPr>
              <a:spcAft>
                <a:spcPts val="700"/>
              </a:spcAft>
              <a:defRPr sz="1200">
                <a:solidFill>
                  <a:srgbClr val="94A3B8"/>
                </a:solidFill>
              </a:defRPr>
            </a:pPr>
            <a:r>
              <a:t>• Verify mathematical agreement of Diffie-Hellman: S_A == S_B.</a:t>
            </a:r>
          </a:p>
          <a:p>
            <a:pPr>
              <a:spcAft>
                <a:spcPts val="700"/>
              </a:spcAft>
              <a:defRPr sz="1200">
                <a:solidFill>
                  <a:srgbClr val="94A3B8"/>
                </a:solidFill>
              </a:defRPr>
            </a:pPr>
            <a:r>
              <a:t>• Verify HKDF produces two strictly distinct 256-bit symmetric keys.</a:t>
            </a:r>
          </a:p>
          <a:p>
            <a:pPr>
              <a:spcAft>
                <a:spcPts val="700"/>
              </a:spcAft>
              <a:defRPr sz="1200">
                <a:solidFill>
                  <a:srgbClr val="94A3B8"/>
                </a:solidFill>
              </a:defRPr>
            </a:pPr>
            <a:r>
              <a:t>• Verify AES-256-CBC encryption/decryption round-trip with arbitrary text.</a:t>
            </a:r>
          </a:p>
          <a:p>
            <a:pPr>
              <a:spcAft>
                <a:spcPts val="700"/>
              </a:spcAft>
              <a:defRPr sz="1200">
                <a:solidFill>
                  <a:srgbClr val="94A3B8"/>
                </a:solidFill>
              </a:defRPr>
            </a:pPr>
            <a:r>
              <a:t>• Verify constant-time HMAC tag generation and verification.</a:t>
            </a:r>
          </a:p>
          <a:p>
            <a:pPr>
              <a:spcAft>
                <a:spcPts val="700"/>
              </a:spcAft>
              <a:defRPr sz="1200">
                <a:solidFill>
                  <a:srgbClr val="94A3B8"/>
                </a:solidFill>
              </a:defRPr>
            </a:pPr>
            <a:r>
              <a:t>• Verify RSA-2048 signature generation and rejection of forged signatures.</a:t>
            </a:r>
          </a:p>
        </p:txBody>
      </p:sp>
      <p:sp>
        <p:nvSpPr>
          <p:cNvPr id="9" name="Rounded Rectangle 8"/>
          <p:cNvSpPr/>
          <p:nvPr/>
        </p:nvSpPr>
        <p:spPr>
          <a:xfrm>
            <a:off x="43891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828800"/>
            <a:ext cx="2926080" cy="365760"/>
          </a:xfrm>
          <a:prstGeom prst="rect">
            <a:avLst/>
          </a:prstGeom>
          <a:noFill/>
        </p:spPr>
        <p:txBody>
          <a:bodyPr wrap="square">
            <a:spAutoFit/>
          </a:bodyPr>
          <a:lstStyle/>
          <a:p>
            <a:pPr>
              <a:defRPr sz="1500" b="1">
                <a:solidFill>
                  <a:srgbClr val="38BDF8"/>
                </a:solidFill>
              </a:defRPr>
            </a:pPr>
            <a:r>
              <a:t>Attack Simulation Evaluation Plan</a:t>
            </a:r>
          </a:p>
        </p:txBody>
      </p:sp>
      <p:sp>
        <p:nvSpPr>
          <p:cNvPr id="11" name="TextBox 10"/>
          <p:cNvSpPr txBox="1"/>
          <p:nvPr/>
        </p:nvSpPr>
        <p:spPr>
          <a:xfrm>
            <a:off x="4617720" y="2148840"/>
            <a:ext cx="2926080" cy="274320"/>
          </a:xfrm>
          <a:prstGeom prst="rect">
            <a:avLst/>
          </a:prstGeom>
          <a:noFill/>
        </p:spPr>
        <p:txBody>
          <a:bodyPr wrap="square">
            <a:spAutoFit/>
          </a:bodyPr>
          <a:lstStyle/>
          <a:p>
            <a:pPr>
              <a:defRPr sz="1100">
                <a:solidFill>
                  <a:srgbClr val="94A3B8"/>
                </a:solidFill>
              </a:defRPr>
            </a:pPr>
            <a:r>
              <a:t>Vulnerability Testing</a:t>
            </a:r>
          </a:p>
        </p:txBody>
      </p:sp>
      <p:sp>
        <p:nvSpPr>
          <p:cNvPr id="12" name="TextBox 11"/>
          <p:cNvSpPr txBox="1"/>
          <p:nvPr/>
        </p:nvSpPr>
        <p:spPr>
          <a:xfrm>
            <a:off x="4572000" y="2423160"/>
            <a:ext cx="3017520" cy="3291840"/>
          </a:xfrm>
          <a:prstGeom prst="rect">
            <a:avLst/>
          </a:prstGeom>
          <a:noFill/>
        </p:spPr>
        <p:txBody>
          <a:bodyPr wrap="square">
            <a:spAutoFit/>
          </a:bodyPr>
          <a:lstStyle/>
          <a:p>
            <a:pPr>
              <a:spcAft>
                <a:spcPts val="700"/>
              </a:spcAft>
              <a:defRPr sz="1200">
                <a:solidFill>
                  <a:srgbClr val="94A3B8"/>
                </a:solidFill>
              </a:defRPr>
            </a:pPr>
            <a:r>
              <a:t>• Eavesdropping Test: Compare plaintext HTTP vs TLS+AES payload in network captures.</a:t>
            </a:r>
          </a:p>
          <a:p>
            <a:pPr>
              <a:spcAft>
                <a:spcPts val="700"/>
              </a:spcAft>
              <a:defRPr sz="1200">
                <a:solidFill>
                  <a:srgbClr val="94A3B8"/>
                </a:solidFill>
              </a:defRPr>
            </a:pPr>
            <a:r>
              <a:t>• Tampering Test: Programmatically alter 1 byte in ciphertext; verify HMAC triggers alert.</a:t>
            </a:r>
          </a:p>
          <a:p>
            <a:pPr>
              <a:spcAft>
                <a:spcPts val="700"/>
              </a:spcAft>
              <a:defRPr sz="1200">
                <a:solidFill>
                  <a:srgbClr val="94A3B8"/>
                </a:solidFill>
              </a:defRPr>
            </a:pPr>
            <a:r>
              <a:t>• Replay Test: Re-send legitimate packet ID; assert rejection with HTTP 409 Conflict.</a:t>
            </a:r>
          </a:p>
          <a:p>
            <a:pPr>
              <a:spcAft>
                <a:spcPts val="700"/>
              </a:spcAft>
              <a:defRPr sz="1200">
                <a:solidFill>
                  <a:srgbClr val="94A3B8"/>
                </a:solidFill>
              </a:defRPr>
            </a:pPr>
            <a:r>
              <a:t>• MITM Test: Simulate adversary key substitution; verify RSA signature catches mismatch.</a:t>
            </a:r>
          </a:p>
        </p:txBody>
      </p:sp>
      <p:sp>
        <p:nvSpPr>
          <p:cNvPr id="13" name="Rounded Rectangle 12"/>
          <p:cNvSpPr/>
          <p:nvPr/>
        </p:nvSpPr>
        <p:spPr>
          <a:xfrm>
            <a:off x="8046720" y="164592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828800"/>
            <a:ext cx="2926080" cy="365760"/>
          </a:xfrm>
          <a:prstGeom prst="rect">
            <a:avLst/>
          </a:prstGeom>
          <a:noFill/>
        </p:spPr>
        <p:txBody>
          <a:bodyPr wrap="square">
            <a:spAutoFit/>
          </a:bodyPr>
          <a:lstStyle/>
          <a:p>
            <a:pPr>
              <a:defRPr sz="1500" b="1">
                <a:solidFill>
                  <a:srgbClr val="38BDF8"/>
                </a:solidFill>
              </a:defRPr>
            </a:pPr>
            <a:r>
              <a:t>Database Security Audit Plan</a:t>
            </a:r>
          </a:p>
        </p:txBody>
      </p:sp>
      <p:sp>
        <p:nvSpPr>
          <p:cNvPr id="15" name="TextBox 14"/>
          <p:cNvSpPr txBox="1"/>
          <p:nvPr/>
        </p:nvSpPr>
        <p:spPr>
          <a:xfrm>
            <a:off x="8275320" y="2148840"/>
            <a:ext cx="2926080" cy="274320"/>
          </a:xfrm>
          <a:prstGeom prst="rect">
            <a:avLst/>
          </a:prstGeom>
          <a:noFill/>
        </p:spPr>
        <p:txBody>
          <a:bodyPr wrap="square">
            <a:spAutoFit/>
          </a:bodyPr>
          <a:lstStyle/>
          <a:p>
            <a:pPr>
              <a:defRPr sz="1100">
                <a:solidFill>
                  <a:srgbClr val="94A3B8"/>
                </a:solidFill>
              </a:defRPr>
            </a:pPr>
            <a:r>
              <a:t>Zero-Plaintext Verification</a:t>
            </a:r>
          </a:p>
        </p:txBody>
      </p:sp>
      <p:sp>
        <p:nvSpPr>
          <p:cNvPr id="16" name="TextBox 15"/>
          <p:cNvSpPr txBox="1"/>
          <p:nvPr/>
        </p:nvSpPr>
        <p:spPr>
          <a:xfrm>
            <a:off x="8229600" y="2423160"/>
            <a:ext cx="3017520" cy="3291840"/>
          </a:xfrm>
          <a:prstGeom prst="rect">
            <a:avLst/>
          </a:prstGeom>
          <a:noFill/>
        </p:spPr>
        <p:txBody>
          <a:bodyPr wrap="square">
            <a:spAutoFit/>
          </a:bodyPr>
          <a:lstStyle/>
          <a:p>
            <a:pPr>
              <a:spcAft>
                <a:spcPts val="700"/>
              </a:spcAft>
              <a:defRPr sz="1200">
                <a:solidFill>
                  <a:srgbClr val="94A3B8"/>
                </a:solidFill>
              </a:defRPr>
            </a:pPr>
            <a:r>
              <a:t>• Query raw SQLite tables during active messaging.</a:t>
            </a:r>
          </a:p>
          <a:p>
            <a:pPr>
              <a:spcAft>
                <a:spcPts val="700"/>
              </a:spcAft>
              <a:defRPr sz="1200">
                <a:solidFill>
                  <a:srgbClr val="94A3B8"/>
                </a:solidFill>
              </a:defRPr>
            </a:pPr>
            <a:r>
              <a:t>• Assert zero plaintext message characters exist in database columns.</a:t>
            </a:r>
          </a:p>
          <a:p>
            <a:pPr>
              <a:spcAft>
                <a:spcPts val="700"/>
              </a:spcAft>
              <a:defRPr sz="1200">
                <a:solidFill>
                  <a:srgbClr val="94A3B8"/>
                </a:solidFill>
              </a:defRPr>
            </a:pPr>
            <a:r>
              <a:t>• Confirm server never accesses or holds symmetric encryption keys.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698480" cy="320040"/>
          </a:xfrm>
          <a:prstGeom prst="rect">
            <a:avLst/>
          </a:prstGeom>
          <a:noFill/>
        </p:spPr>
        <p:txBody>
          <a:bodyPr wrap="square">
            <a:spAutoFit/>
          </a:bodyPr>
          <a:lstStyle/>
          <a:p>
            <a:pPr>
              <a:defRPr sz="1100" b="1">
                <a:solidFill>
                  <a:srgbClr val="38BDF8"/>
                </a:solidFill>
              </a:defRPr>
            </a:pPr>
            <a:r>
              <a:t>IMPLEMENTATION PLANNING</a:t>
            </a:r>
          </a:p>
        </p:txBody>
      </p:sp>
      <p:sp>
        <p:nvSpPr>
          <p:cNvPr id="4" name="TextBox 3"/>
          <p:cNvSpPr txBox="1"/>
          <p:nvPr/>
        </p:nvSpPr>
        <p:spPr>
          <a:xfrm>
            <a:off x="731520" y="685800"/>
            <a:ext cx="10698480" cy="461665"/>
          </a:xfrm>
          <a:prstGeom prst="rect">
            <a:avLst/>
          </a:prstGeom>
          <a:noFill/>
        </p:spPr>
        <p:txBody>
          <a:bodyPr wrap="square">
            <a:spAutoFit/>
          </a:bodyPr>
          <a:lstStyle/>
          <a:p>
            <a:pPr>
              <a:defRPr sz="2400" b="1">
                <a:solidFill>
                  <a:srgbClr val="F8FAFC"/>
                </a:solidFill>
              </a:defRPr>
            </a:pPr>
            <a:r>
              <a:rPr dirty="0"/>
              <a:t>Technology Selection</a:t>
            </a:r>
          </a:p>
        </p:txBody>
      </p:sp>
      <p:sp>
        <p:nvSpPr>
          <p:cNvPr id="5" name="Rounded Rectangle 4"/>
          <p:cNvSpPr/>
          <p:nvPr/>
        </p:nvSpPr>
        <p:spPr>
          <a:xfrm>
            <a:off x="731520" y="1645920"/>
            <a:ext cx="10546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423160"/>
            <a:ext cx="10058400" cy="2303195"/>
          </a:xfrm>
          <a:prstGeom prst="rect">
            <a:avLst/>
          </a:prstGeom>
          <a:noFill/>
        </p:spPr>
        <p:txBody>
          <a:bodyPr wrap="square">
            <a:spAutoFit/>
          </a:bodyPr>
          <a:lstStyle/>
          <a:p>
            <a:pPr>
              <a:spcAft>
                <a:spcPts val="1000"/>
              </a:spcAft>
              <a:defRPr sz="1300">
                <a:solidFill>
                  <a:srgbClr val="94A3B8"/>
                </a:solidFill>
              </a:defRPr>
            </a:pPr>
            <a:r>
              <a:rPr sz="1700" dirty="0"/>
              <a:t>• Language &amp; Backend: Python 3.14 + Flask REST API</a:t>
            </a:r>
          </a:p>
          <a:p>
            <a:pPr>
              <a:spcAft>
                <a:spcPts val="1000"/>
              </a:spcAft>
              <a:defRPr sz="1300">
                <a:solidFill>
                  <a:srgbClr val="94A3B8"/>
                </a:solidFill>
              </a:defRPr>
            </a:pPr>
            <a:r>
              <a:rPr sz="1700" dirty="0"/>
              <a:t>• Cryptographic Library: Python cryptography (hazmat) + </a:t>
            </a:r>
            <a:r>
              <a:rPr sz="1700" dirty="0" err="1"/>
              <a:t>hashlib</a:t>
            </a:r>
            <a:r>
              <a:rPr sz="1700" dirty="0"/>
              <a:t> &amp; </a:t>
            </a:r>
            <a:r>
              <a:rPr sz="1700" dirty="0" err="1"/>
              <a:t>hmac</a:t>
            </a:r>
            <a:endParaRPr sz="1700" dirty="0"/>
          </a:p>
          <a:p>
            <a:pPr>
              <a:spcAft>
                <a:spcPts val="1000"/>
              </a:spcAft>
              <a:defRPr sz="1300">
                <a:solidFill>
                  <a:srgbClr val="94A3B8"/>
                </a:solidFill>
              </a:defRPr>
            </a:pPr>
            <a:r>
              <a:rPr sz="1700" dirty="0"/>
              <a:t>• Database Layer: SQLite3 (Lightweight, zero-config relational store)</a:t>
            </a:r>
          </a:p>
          <a:p>
            <a:pPr>
              <a:spcAft>
                <a:spcPts val="1000"/>
              </a:spcAft>
              <a:defRPr sz="1300">
                <a:solidFill>
                  <a:srgbClr val="94A3B8"/>
                </a:solidFill>
              </a:defRPr>
            </a:pPr>
            <a:r>
              <a:rPr sz="1700" dirty="0"/>
              <a:t>• Transport Security: TLS 1.3 / HTTPS with self-signed X.509 certificates</a:t>
            </a:r>
          </a:p>
          <a:p>
            <a:pPr>
              <a:spcAft>
                <a:spcPts val="1000"/>
              </a:spcAft>
              <a:defRPr sz="1300">
                <a:solidFill>
                  <a:srgbClr val="94A3B8"/>
                </a:solidFill>
              </a:defRPr>
            </a:pPr>
            <a:r>
              <a:rPr sz="1700" dirty="0"/>
              <a:t>• User Interface: HTML5, CSS3, Modern JavaScript (Dual-panel simulator)</a:t>
            </a:r>
          </a:p>
          <a:p>
            <a:pPr>
              <a:spcAft>
                <a:spcPts val="1000"/>
              </a:spcAft>
              <a:defRPr sz="1300">
                <a:solidFill>
                  <a:srgbClr val="94A3B8"/>
                </a:solidFill>
              </a:defRPr>
            </a:pPr>
            <a:r>
              <a:rPr sz="1700" dirty="0"/>
              <a:t>• Testing Framework: Python </a:t>
            </a:r>
            <a:r>
              <a:rPr sz="1700" dirty="0" err="1"/>
              <a:t>unittest</a:t>
            </a:r>
            <a:r>
              <a:rPr sz="1700" dirty="0"/>
              <a:t> (Automated security &amp; crypto suites)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1394</Words>
  <Application>Microsoft Office PowerPoint</Application>
  <PresentationFormat>Widescreen</PresentationFormat>
  <Paragraphs>164</Paragraphs>
  <Slides>10</Slides>
  <Notes>0</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Nidhi Kugunavar</cp:lastModifiedBy>
  <cp:revision>6</cp:revision>
  <dcterms:created xsi:type="dcterms:W3CDTF">2013-01-27T09:14:16Z</dcterms:created>
  <dcterms:modified xsi:type="dcterms:W3CDTF">2026-09-16T16:13:11Z</dcterms:modified>
  <cp:category/>
</cp:coreProperties>
</file>